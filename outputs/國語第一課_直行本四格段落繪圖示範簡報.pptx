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82038"/>
          </a:solidFill>
          <a:ln w="317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38BDF8"/>
                </a:solidFill>
                <a:latin typeface="微軟正黑體"/>
              </a:defRPr>
            </a:pPr>
            <a:r>
              <a:t>南一版國小國語三上 • 第一課〈你好，新朋友〉</a:t>
            </a:r>
          </a:p>
          <a:p>
            <a:pPr algn="ctr">
              <a:spcAft>
                <a:spcPts val="1800"/>
              </a:spcAft>
              <a:defRPr sz="3600" b="1">
                <a:solidFill>
                  <a:srgbClr val="FFB703"/>
                </a:solidFill>
                <a:latin typeface="微軟正黑體"/>
              </a:defRPr>
            </a:pPr>
            <a:r>
              <a:t>🎨 讀課文 ➔ 抓重點 ➔ 畫四格</a:t>
            </a:r>
          </a:p>
          <a:p>
            <a:pPr algn="ctr">
              <a:spcAft>
                <a:spcPts val="1600"/>
              </a:spcAft>
              <a:defRPr sz="2200" b="1">
                <a:solidFill>
                  <a:srgbClr val="FFFFFF"/>
                </a:solidFill>
                <a:latin typeface="微軟正黑體"/>
              </a:defRPr>
            </a:pPr>
            <a:r>
              <a:t>① 找角色與動作  ➔  ② 找背景  ➔  ③ 畫上去！</a:t>
            </a:r>
          </a:p>
          <a:p>
            <a:pPr algn="ctr">
              <a:defRPr sz="1500">
                <a:solidFill>
                  <a:srgbClr val="94A3B8"/>
                </a:solidFill>
                <a:latin typeface="微軟正黑體"/>
              </a:defRPr>
            </a:pPr>
            <a:r>
              <a:t>直行本折四格 • 不需要太多細節 • 抓住重點就能畫很棒！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084FC"/>
                </a:solidFill>
                <a:latin typeface="微軟正黑體"/>
              </a:defRPr>
            </a:pPr>
            <a:r>
              <a:t>【繪圖三部曲】先讀懂，再動筆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💡 每一格怎麼畫？只要簡單三步驟！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/>
            </a:pPr>
            <a:r>
              <a:t>👤＋🏃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38BDF8"/>
                </a:solidFill>
                <a:latin typeface="微軟正黑體"/>
              </a:defRPr>
            </a:pPr>
            <a:r>
              <a:t>步驟 1：找角色＋動作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微軟正黑體"/>
              </a:defRPr>
            </a:pPr>
            <a:r>
              <a:t>🔍 誰是主角？他在做什麼？</a:t>
            </a:r>
            <a:br/>
            <a:r>
              <a:t>（例如：太陽伸出手、拍拍小草）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/>
            </a:pPr>
            <a:r>
              <a:t>🌄＋🌈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FFB703"/>
                </a:solidFill>
                <a:latin typeface="微軟正黑體"/>
              </a:defRPr>
            </a:pPr>
            <a:r>
              <a:t>步驟 2：找背景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微軟正黑體"/>
              </a:defRPr>
            </a:pPr>
            <a:r>
              <a:t>🏞️ 他在哪裡？周圍有什麼？</a:t>
            </a:r>
            <a:br/>
            <a:r>
              <a:t>（例如：泥土、彩虹、大海）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3600"/>
            </a:pPr>
            <a:r>
              <a:t>🎨＋✍️</a:t>
            </a:r>
          </a:p>
          <a:p>
            <a:pPr algn="ctr">
              <a:spcAft>
                <a:spcPts val="1600"/>
              </a:spcAft>
              <a:defRPr sz="2000" b="1">
                <a:solidFill>
                  <a:srgbClr val="34D399"/>
                </a:solidFill>
                <a:latin typeface="微軟正黑體"/>
              </a:defRPr>
            </a:pPr>
            <a:r>
              <a:t>步驟 3：畫上去</a:t>
            </a:r>
          </a:p>
          <a:p>
            <a:pPr algn="ctr">
              <a:spcBef>
                <a:spcPts val="800"/>
              </a:spcBef>
              <a:defRPr sz="1500">
                <a:solidFill>
                  <a:srgbClr val="FFFFFF"/>
                </a:solidFill>
                <a:latin typeface="微軟正黑體"/>
              </a:defRPr>
            </a:pPr>
            <a:r>
              <a:t>✏️ 動筆畫在直行本！</a:t>
            </a:r>
            <a:br/>
            <a:r>
              <a:t>先畫角色動作，再補上背景！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微軟正黑體"/>
              </a:defRPr>
            </a:pPr>
            <a:r>
              <a:t>【第 1 格】找角色 ➔ 找動作 ➔ 找背景 ➔ 畫上去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☀️ 第一段：太陽拍小草</a:t>
            </a:r>
          </a:p>
        </p:txBody>
      </p:sp>
      <p:pic>
        <p:nvPicPr>
          <p:cNvPr id="5" name="Picture 4" descr="lesson1_p1_s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368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>
                <a:solidFill>
                  <a:srgbClr val="94A3B8"/>
                </a:solidFill>
                <a:latin typeface="標楷體"/>
              </a:defRPr>
            </a:pPr>
            <a:r>
              <a:t>📖 課文：「太陽伸出暖暖的手，拍拍小草說...水滴化成彩虹，大海也會閃閃發亮。」</a:t>
            </a:r>
          </a:p>
          <a:p>
            <a:pPr>
              <a:defRPr sz="1500" b="1">
                <a:solidFill>
                  <a:srgbClr val="38BDF8"/>
                </a:solidFill>
                <a:latin typeface="微軟正黑體"/>
              </a:defRPr>
            </a:pPr>
            <a:r>
              <a:t>① 角色與動作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角色：太陽、小草</a:t>
            </a:r>
            <a:br/>
            <a:r>
              <a:t>• 動作：太陽「伸出暖暖的手」、「拍拍小草」</a:t>
            </a:r>
          </a:p>
          <a:p>
            <a:pPr>
              <a:defRPr sz="1500" b="1">
                <a:solidFill>
                  <a:srgbClr val="FFB703"/>
                </a:solidFill>
                <a:latin typeface="微軟正黑體"/>
              </a:defRPr>
            </a:pPr>
            <a:r>
              <a:t>② 背景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背景：泥土、彩虹、閃閃發亮的大海</a:t>
            </a:r>
          </a:p>
          <a:p>
            <a:pPr>
              <a:defRPr sz="1500" b="1">
                <a:solidFill>
                  <a:srgbClr val="34D399"/>
                </a:solidFill>
                <a:latin typeface="微軟正黑體"/>
              </a:defRPr>
            </a:pPr>
            <a:r>
              <a:t>③ 畫上去（簡單好畫）</a:t>
            </a:r>
          </a:p>
          <a:p>
            <a:pPr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先畫：圓圓的太陽伸出兩隻大手，拍地上的小草。</a:t>
            </a:r>
            <a:br/>
            <a:r>
              <a:t>• 再補：後面畫一條彩虹和大波浪海水。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微軟正黑體"/>
              </a:defRPr>
            </a:pPr>
            <a:r>
              <a:t>【第 2 格】找角色 ➔ 找動作 ➔ 找背景 ➔ 畫上去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🐦 第二段：小雲雀唱歌</a:t>
            </a:r>
          </a:p>
        </p:txBody>
      </p:sp>
      <p:pic>
        <p:nvPicPr>
          <p:cNvPr id="5" name="Picture 4" descr="lesson1_p2_skyl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368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>
                <a:solidFill>
                  <a:srgbClr val="94A3B8"/>
                </a:solidFill>
                <a:latin typeface="標楷體"/>
              </a:defRPr>
            </a:pPr>
            <a:r>
              <a:t>📖 課文：「小雲雀輕快的飛向青山...沒有多彩的羽衣，卻有清脆的歌聲...」</a:t>
            </a:r>
          </a:p>
          <a:p>
            <a:pPr>
              <a:defRPr sz="1500" b="1">
                <a:solidFill>
                  <a:srgbClr val="38BDF8"/>
                </a:solidFill>
                <a:latin typeface="微軟正黑體"/>
              </a:defRPr>
            </a:pPr>
            <a:r>
              <a:t>① 角色與動作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角色：小雲雀</a:t>
            </a:r>
            <a:br/>
            <a:r>
              <a:t>• 動作：「一邊唱歌」、「停留半空中」</a:t>
            </a:r>
          </a:p>
          <a:p>
            <a:pPr>
              <a:defRPr sz="1500" b="1">
                <a:solidFill>
                  <a:srgbClr val="FFB703"/>
                </a:solidFill>
                <a:latin typeface="微軟正黑體"/>
              </a:defRPr>
            </a:pPr>
            <a:r>
              <a:t>② 背景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背景：青山、藍天（加上音符 🎵 🎶）</a:t>
            </a:r>
          </a:p>
          <a:p>
            <a:pPr>
              <a:defRPr sz="1500" b="1">
                <a:solidFill>
                  <a:srgbClr val="34D399"/>
                </a:solidFill>
                <a:latin typeface="微軟正黑體"/>
              </a:defRPr>
            </a:pPr>
            <a:r>
              <a:t>③ 畫上去（簡單好畫）</a:t>
            </a:r>
          </a:p>
          <a:p>
            <a:pPr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先畫：半空中畫一隻小鳥張開嘴巴唱歌，旁邊畫音符。</a:t>
            </a:r>
            <a:br/>
            <a:r>
              <a:t>• 再補：背景畫連綿起伏的大山。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微軟正黑體"/>
              </a:defRPr>
            </a:pPr>
            <a:r>
              <a:t>【第 3 格】找角色 ➔ 找動作 ➔ 找背景 ➔ 畫上去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🌬️ 第三段：旅行的風</a:t>
            </a:r>
          </a:p>
        </p:txBody>
      </p:sp>
      <p:pic>
        <p:nvPicPr>
          <p:cNvPr id="5" name="Picture 4" descr="lesson1_p3_w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368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>
                <a:solidFill>
                  <a:srgbClr val="94A3B8"/>
                </a:solidFill>
                <a:latin typeface="標楷體"/>
              </a:defRPr>
            </a:pPr>
            <a:r>
              <a:t>📖 課文：「風聽見樹葉慢慢落下，用長長的頭髮接住...聞百合的花香，看成群的綿羊...」</a:t>
            </a:r>
          </a:p>
          <a:p>
            <a:pPr>
              <a:defRPr sz="1500" b="1">
                <a:solidFill>
                  <a:srgbClr val="38BDF8"/>
                </a:solidFill>
                <a:latin typeface="微軟正黑體"/>
              </a:defRPr>
            </a:pPr>
            <a:r>
              <a:t>① 角色與動作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角色：風、落葉</a:t>
            </a:r>
            <a:br/>
            <a:r>
              <a:t>• 動作：用「長長的頭髮接住」落葉、「送回地面」</a:t>
            </a:r>
          </a:p>
          <a:p>
            <a:pPr>
              <a:defRPr sz="1500" b="1">
                <a:solidFill>
                  <a:srgbClr val="FFB703"/>
                </a:solidFill>
                <a:latin typeface="微軟正黑體"/>
              </a:defRPr>
            </a:pPr>
            <a:r>
              <a:t>② 背景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背景：百合花香、成群的綿羊</a:t>
            </a:r>
          </a:p>
          <a:p>
            <a:pPr>
              <a:defRPr sz="1500" b="1">
                <a:solidFill>
                  <a:srgbClr val="34D399"/>
                </a:solidFill>
                <a:latin typeface="微軟正黑體"/>
              </a:defRPr>
            </a:pPr>
            <a:r>
              <a:t>③ 畫上去（簡單好畫）</a:t>
            </a:r>
          </a:p>
          <a:p>
            <a:pPr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先畫：像雲一樣飄逸的長髮，雙手接住一片金黃落葉。</a:t>
            </a:r>
            <a:br/>
            <a:r>
              <a:t>• 再補：地面畫幾朵白花、遠處畫幾隻小綿羊。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微軟正黑體"/>
              </a:defRPr>
            </a:pPr>
            <a:r>
              <a:t>【第 4 格】找角色 ➔ 找動作 ➔ 找背景 ➔ 畫上去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👦 第四段：小豆子踢球</a:t>
            </a:r>
          </a:p>
        </p:txBody>
      </p:sp>
      <p:pic>
        <p:nvPicPr>
          <p:cNvPr id="5" name="Picture 4" descr="lesson1_p4_bo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4937760" cy="36868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0" y="1280160"/>
            <a:ext cx="5486400" cy="502920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50">
                <a:solidFill>
                  <a:srgbClr val="94A3B8"/>
                </a:solidFill>
                <a:latin typeface="標楷體"/>
              </a:defRPr>
            </a:pPr>
            <a:r>
              <a:t>📖 課文：「我是開朗的小豆子，最會踢足球。人和球一起飛奔，是最快樂的時光。」</a:t>
            </a:r>
          </a:p>
          <a:p>
            <a:pPr>
              <a:defRPr sz="1500" b="1">
                <a:solidFill>
                  <a:srgbClr val="38BDF8"/>
                </a:solidFill>
                <a:latin typeface="微軟正黑體"/>
              </a:defRPr>
            </a:pPr>
            <a:r>
              <a:t>① 角色與動作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角色：開朗的小豆子（或畫你自己！）</a:t>
            </a:r>
            <a:br/>
            <a:r>
              <a:t>• 動作：「踢足球」、「人和球一起飛奔」</a:t>
            </a:r>
          </a:p>
          <a:p>
            <a:pPr>
              <a:defRPr sz="1500" b="1">
                <a:solidFill>
                  <a:srgbClr val="FFB703"/>
                </a:solidFill>
                <a:latin typeface="微軟正黑體"/>
              </a:defRPr>
            </a:pPr>
            <a:r>
              <a:t>② 背景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背景：教室、操場、新同學</a:t>
            </a:r>
          </a:p>
          <a:p>
            <a:pPr>
              <a:defRPr sz="1500" b="1">
                <a:solidFill>
                  <a:srgbClr val="34D399"/>
                </a:solidFill>
                <a:latin typeface="微軟正黑體"/>
              </a:defRPr>
            </a:pPr>
            <a:r>
              <a:t>③ 畫上去（簡單好畫）</a:t>
            </a:r>
          </a:p>
          <a:p>
            <a:pPr>
              <a:defRPr sz="1400">
                <a:solidFill>
                  <a:srgbClr val="FFFFFF"/>
                </a:solidFill>
                <a:latin typeface="微軟正黑體"/>
              </a:defRPr>
            </a:pPr>
            <a:r>
              <a:t>• 先畫：一個大笑的小朋友，正在大步跑著踢足球。</a:t>
            </a:r>
            <a:br/>
            <a:r>
              <a:t>• 再補：身後畫學校校舍或揮手歡呼的新同學。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B703"/>
                </a:solidFill>
                <a:latin typeface="微軟正黑體"/>
              </a:defRPr>
            </a:pPr>
            <a:r>
              <a:t>【快速檢查】直行本四格是否都畫對了？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微軟正黑體"/>
              </a:defRPr>
            </a:pPr>
            <a:r>
              <a:t>📋 第一課四格「角色・動作・背景」總對照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224028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FFB703"/>
                </a:solidFill>
                <a:latin typeface="微軟正黑體"/>
              </a:defRPr>
            </a:pPr>
            <a:r>
              <a:t>第 1 格</a:t>
            </a:r>
          </a:p>
          <a:p>
            <a:pPr>
              <a:defRPr sz="1350" b="1">
                <a:solidFill>
                  <a:srgbClr val="FFFFFF"/>
                </a:solidFill>
                <a:latin typeface="微軟正黑體"/>
              </a:defRPr>
            </a:pPr>
            <a:r>
              <a:t>👤 角色：太陽、小草</a:t>
            </a:r>
          </a:p>
          <a:p>
            <a:pPr>
              <a:defRPr sz="1350">
                <a:solidFill>
                  <a:srgbClr val="38BDF8"/>
                </a:solidFill>
                <a:latin typeface="微軟正黑體"/>
              </a:defRPr>
            </a:pPr>
            <a:r>
              <a:t>🏃 動作：伸出手、拍拍小草</a:t>
            </a:r>
          </a:p>
          <a:p>
            <a:pPr>
              <a:defRPr sz="1350">
                <a:solidFill>
                  <a:srgbClr val="FFB703"/>
                </a:solidFill>
                <a:latin typeface="微軟正黑體"/>
              </a:defRPr>
            </a:pPr>
            <a:r>
              <a:t>🏞️ 背景：泥土、彩虹、大海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166360" cy="224028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38BDF8"/>
                </a:solidFill>
                <a:latin typeface="微軟正黑體"/>
              </a:defRPr>
            </a:pPr>
            <a:r>
              <a:t>第 2 格</a:t>
            </a:r>
          </a:p>
          <a:p>
            <a:pPr>
              <a:defRPr sz="1350" b="1">
                <a:solidFill>
                  <a:srgbClr val="FFFFFF"/>
                </a:solidFill>
                <a:latin typeface="微軟正黑體"/>
              </a:defRPr>
            </a:pPr>
            <a:r>
              <a:t>👤 角色：小雲雀</a:t>
            </a:r>
          </a:p>
          <a:p>
            <a:pPr>
              <a:defRPr sz="1350">
                <a:solidFill>
                  <a:srgbClr val="38BDF8"/>
                </a:solidFill>
                <a:latin typeface="微軟正黑體"/>
              </a:defRPr>
            </a:pPr>
            <a:r>
              <a:t>🏃 動作：半空中唱歌</a:t>
            </a:r>
          </a:p>
          <a:p>
            <a:pPr>
              <a:defRPr sz="1350">
                <a:solidFill>
                  <a:srgbClr val="FFB703"/>
                </a:solidFill>
                <a:latin typeface="微軟正黑體"/>
              </a:defRPr>
            </a:pPr>
            <a:r>
              <a:t>🏞️ 背景：青山、跳動音符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66360" cy="224028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F43F5E"/>
                </a:solidFill>
                <a:latin typeface="微軟正黑體"/>
              </a:defRPr>
            </a:pPr>
            <a:r>
              <a:t>第 3 格</a:t>
            </a:r>
          </a:p>
          <a:p>
            <a:pPr>
              <a:defRPr sz="1350" b="1">
                <a:solidFill>
                  <a:srgbClr val="FFFFFF"/>
                </a:solidFill>
                <a:latin typeface="微軟正黑體"/>
              </a:defRPr>
            </a:pPr>
            <a:r>
              <a:t>👤 角色：風、落葉</a:t>
            </a:r>
          </a:p>
          <a:p>
            <a:pPr>
              <a:defRPr sz="1350">
                <a:solidFill>
                  <a:srgbClr val="38BDF8"/>
                </a:solidFill>
                <a:latin typeface="微軟正黑體"/>
              </a:defRPr>
            </a:pPr>
            <a:r>
              <a:t>🏃 動作：長髮接住落葉</a:t>
            </a:r>
          </a:p>
          <a:p>
            <a:pPr>
              <a:defRPr sz="1350">
                <a:solidFill>
                  <a:srgbClr val="FFB703"/>
                </a:solidFill>
                <a:latin typeface="微軟正黑體"/>
              </a:defRPr>
            </a:pPr>
            <a:r>
              <a:t>🏞️ 背景：百合花、成群綿羊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840480"/>
            <a:ext cx="5166360" cy="2240280"/>
          </a:xfrm>
          <a:prstGeom prst="roundRect">
            <a:avLst/>
          </a:prstGeom>
          <a:solidFill>
            <a:srgbClr val="182038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700" b="1">
                <a:solidFill>
                  <a:srgbClr val="34D399"/>
                </a:solidFill>
                <a:latin typeface="微軟正黑體"/>
              </a:defRPr>
            </a:pPr>
            <a:r>
              <a:t>第 4 格</a:t>
            </a:r>
          </a:p>
          <a:p>
            <a:pPr>
              <a:defRPr sz="1350" b="1">
                <a:solidFill>
                  <a:srgbClr val="FFFFFF"/>
                </a:solidFill>
                <a:latin typeface="微軟正黑體"/>
              </a:defRPr>
            </a:pPr>
            <a:r>
              <a:t>👤 角色：小豆子（自己）</a:t>
            </a:r>
          </a:p>
          <a:p>
            <a:pPr>
              <a:defRPr sz="1350">
                <a:solidFill>
                  <a:srgbClr val="38BDF8"/>
                </a:solidFill>
                <a:latin typeface="微軟正黑體"/>
              </a:defRPr>
            </a:pPr>
            <a:r>
              <a:t>🏃 動作：踢足球、奔跑</a:t>
            </a:r>
          </a:p>
          <a:p>
            <a:pPr>
              <a:defRPr sz="1350">
                <a:solidFill>
                  <a:srgbClr val="FFB703"/>
                </a:solidFill>
                <a:latin typeface="微軟正黑體"/>
              </a:defRPr>
            </a:pPr>
            <a:r>
              <a:t>🏞️ 背景：操場、教室、新同學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