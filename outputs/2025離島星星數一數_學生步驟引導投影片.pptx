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800" b="1">
                <a:solidFill>
                  <a:srgbClr val="FFB703"/>
                </a:solidFill>
                <a:latin typeface="Microsoft JhengHei"/>
              </a:defRPr>
            </a:pPr>
            <a:r>
              <a:t>✦ 課堂互動・逐步操作・原理探究 ✦</a:t>
            </a:r>
          </a:p>
          <a:p>
            <a:pPr algn="ctr">
              <a:defRPr sz="4600" b="1">
                <a:solidFill>
                  <a:srgbClr val="FFFFFF"/>
                </a:solidFill>
                <a:latin typeface="Microsoft JhengHei"/>
              </a:defRPr>
            </a:pPr>
            <a:r>
              <a:t>離島星星數一數</a:t>
            </a:r>
          </a:p>
          <a:p>
            <a:pPr algn="ctr">
              <a:spcAft>
                <a:spcPts val="2000"/>
              </a:spcAft>
              <a:defRPr sz="3400" b="1">
                <a:solidFill>
                  <a:srgbClr val="48CAE4"/>
                </a:solidFill>
                <a:latin typeface="Microsoft JhengHei"/>
              </a:defRPr>
            </a:pPr>
            <a:r>
              <a:t>學生步驟引導互動投影片</a:t>
            </a:r>
          </a:p>
          <a:p>
            <a:pPr algn="ctr">
              <a:defRPr sz="1700">
                <a:solidFill>
                  <a:srgbClr val="94A3B8"/>
                </a:solidFill>
                <a:latin typeface="Microsoft JhengHei"/>
              </a:defRPr>
            </a:pPr>
            <a:r>
              <a:t>設計重點：每個活動按步驟引導學生親自操作 ➔ 獨立原理頁深度拆解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703"/>
                </a:solidFill>
                <a:latin typeface="Microsoft JhengHei"/>
              </a:defRPr>
            </a:pPr>
            <a:r>
              <a:t>活動一：騎士與公主 ｜ 【 Step 0 &amp; 1 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準備撲克牌並完成黑紅相間排列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365760" b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請每位同學準備 4 張撲克牌，正面朝上排好：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男生拿 4 張 J（代表帥氣騎士） ｜ 女生拿 4 張 Q（代表漂亮公主）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按照「黑、紅、黑、紅」的花色交錯排好（例如：♠J、♥J、♣J、♦J）。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檢查確認：手中 4 張牌全部都是正面朝上！</a:t>
            </a:r>
          </a:p>
          <a:p>
            <a:pPr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✨ 請同桌互相檢查：顏色是否有黑紅交錯？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703"/>
                </a:solidFill>
                <a:latin typeface="Microsoft JhengHei"/>
              </a:defRPr>
            </a:pPr>
            <a:r>
              <a:t>活動一：騎士與公主 ｜ 【 Step 2 &amp; 3 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特選牌翻面與全班齊念密語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365760" b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把最後一張【方塊 J】（女生拿【方塊 Q】）翻成背面朝上！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此時整疊牌有 3 張正面、1 張背面！收攏整疊牌拿在手中。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全班一起大聲念出通關密語：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  「歡迎帥氣騎士和漂亮公主來到我們這一班！」</a:t>
            </a:r>
          </a:p>
          <a:p>
            <a:pPr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✨ 念完後，準備進入神奇的隨機洗牌時間！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703"/>
                </a:solidFill>
                <a:latin typeface="Microsoft JhengHei"/>
              </a:defRPr>
            </a:pPr>
            <a:r>
              <a:t>活動一：騎士與公主 ｜ 【 Step 4 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自由混合三種洗牌動作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365760" b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請自由組合以下 3 個動作，隨你開心洗牌（不限次數）：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動作 A【單張下移】：把最上面 1 張牌移到最底下（切牌）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動作 B【整疊翻轉】：把整疊 4 張牌直接翻面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動作 C【頂部雙張翻面】：拿最上面 2 張一起翻過來放回頂端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你可以 A-B-C-A-A 隨便操作，洗到你覺得完全混亂為止！</a:t>
            </a:r>
          </a:p>
          <a:p>
            <a:pPr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✨ 洗好後請手拿整疊牌，等待老師指令！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703"/>
                </a:solidFill>
                <a:latin typeface="Microsoft JhengHei"/>
              </a:defRPr>
            </a:pPr>
            <a:r>
              <a:t>活動一：騎士與公主 ｜ 【 Step 5 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見證奇蹟：翻牌檢驗時刻！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365760" b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跟隨老師的節奏，依序翻牌檢驗：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動作 1：翻開第 1 張牌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動作 2：翻開第 2 張牌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動作 3：翻開第 3 張牌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動作 4：翻開第 4 張牌</a:t>
            </a:r>
          </a:p>
          <a:p>
            <a:pPr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✨ 🎉 攤開手中的牌：特殊牌（正反面不同）精準現身！100% 成功！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8B4FE"/>
                </a:solidFill>
                <a:latin typeface="Microsoft JhengHei"/>
              </a:defRPr>
            </a:pPr>
            <a:r>
              <a:t>💡 獨立原理揭秘 ｜ 活動一：騎士與公主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8B4FE"/>
                </a:solidFill>
                <a:latin typeface="Microsoft JhengHei"/>
              </a:defRPr>
            </a:pPr>
            <a:r>
              <a:t>數學密碼揭秘：置換群與不變量定理（Invariant Principle）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33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411480" tIns="365760" bIns="365760"/>
          <a:lstStyle/>
          <a:p>
            <a:pPr algn="ctr">
              <a:spcAft>
                <a:spcPts val="1200"/>
              </a:spcAft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【數學思維與密碼拆解】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1. 黑紅相間的初始設定，賦予了牌組特殊的數學對稱性。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2. 動作 A（循環移位）、動作 B（整疊翻面）、動作 C（雙張翻面），在代數上皆屬於「保距對稱操作」，不會破壞奇偶相對軌道。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3. 洗牌動作看似隨機混亂，但內部相對結構始終維持「不變量」，最後檢驗必然精準還原！</a:t>
            </a:r>
          </a:p>
          <a:p>
            <a:br/>
            <a:pPr>
              <a:defRPr sz="1700" b="1">
                <a:solidFill>
                  <a:srgbClr val="48CAE4"/>
                </a:solidFill>
                <a:latin typeface="Microsoft JhengHei"/>
              </a:defRPr>
            </a:pPr>
            <a:r>
              <a:t>🌟 核心心法：魔術不是障眼法，而是數學不變量的完美展現。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703"/>
                </a:solidFill>
                <a:latin typeface="Microsoft JhengHei"/>
              </a:defRPr>
            </a:pPr>
            <a:r>
              <a:t>活動二：最棒的班級 ｜ 【 Step 0 &amp; 1 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準備 8 張牌並挑選最喜歡的本命牌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365760" b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每人拿 8 張牌，挑選 1 張放在最上方第 1 張：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從 8 張牌中挑選 1 張你最喜歡的「本命幸運牌」（記住花色與數字）。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將這張本命牌放在整疊牌的最上面（第 1 張）。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其餘 7 張牌背面朝上疊在下方。</a:t>
            </a:r>
          </a:p>
          <a:p>
            <a:pPr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✨ 記住你的第一張本命牌！絕對不能被別人看到喔！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703"/>
                </a:solidFill>
                <a:latin typeface="Microsoft JhengHei"/>
              </a:defRPr>
            </a:pPr>
            <a:r>
              <a:t>活動二：最棒的班級 ｜ 【 Step 2 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依本命牌花色從底部拿掉指定張數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365760" b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依據第 1 張本命牌的花色，從整疊牌【最底下】拿掉指定張數：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♠ 黑桃：從最底部拿掉 1 張牌（放桌上棄置）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♥ 愛心：從最底部拿掉 2 張牌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♣ 梅花：從最底部拿掉 3 張牌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♦ 方塊：拿掉 0 張牌（不拿，維持原狀）</a:t>
            </a:r>
          </a:p>
          <a:p>
            <a:pPr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✨ 扣掉的牌放旁邊，手裡握緊剩下的牌！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703"/>
                </a:solidFill>
                <a:latin typeface="Microsoft JhengHei"/>
              </a:defRPr>
            </a:pPr>
            <a:r>
              <a:t>活動二：最棒的班級 ｜ 【 Step 3 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齊聲覆誦通關密語移牌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365760" b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全班一起念：「我・們・班・是・最・棒・的・一・班」（共 9 字）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規則：每念一個字，就將最上面的「第 1 張牌」移到「最底下」！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念「我」➔ 移 1 張到牌底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念「們」➔ 移 1 張到牌底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...以此類推，念完「班」剛好完成 9 次移牌！</a:t>
            </a:r>
          </a:p>
          <a:p>
            <a:pPr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✨ 移牌時請專注數好次數，不多也不少！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703"/>
                </a:solidFill>
                <a:latin typeface="Microsoft JhengHei"/>
              </a:defRPr>
            </a:pPr>
            <a:r>
              <a:t>活動二：最棒的班級 ｜ 【 Step 4 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花瓣算命法淘汰循環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365760" b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進行花瓣算命淘汰，直到手中只剩【最後 1 張牌】：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念「愛我」 ➔ 把最上面 1 張牌丟在桌上（淘汰）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念「不愛我」 ➔ 把最上面 1 張牌移到最底下（保留）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重複「愛我（丟）、不愛我（留）」循環...</a:t>
            </a:r>
          </a:p>
          <a:p>
            <a:pPr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✨ 🎉 翻開手中最後一張牌：正是最初挑選的那張本命牌！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8B4FE"/>
                </a:solidFill>
                <a:latin typeface="Microsoft JhengHei"/>
              </a:defRPr>
            </a:pPr>
            <a:r>
              <a:t>💡 獨立原理揭秘 ｜ 活動二：最棒的班級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8B4FE"/>
                </a:solidFill>
                <a:latin typeface="Microsoft JhengHei"/>
              </a:defRPr>
            </a:pPr>
            <a:r>
              <a:t>數學密碼揭秘：約瑟夫問題（Josephus Problem）與循環淘汰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33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411480" tIns="365760" bIns="365760"/>
          <a:lstStyle/>
          <a:p>
            <a:pPr algn="ctr">
              <a:spcAft>
                <a:spcPts val="1200"/>
              </a:spcAft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【數學思維與密碼拆解】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1. 約瑟夫問題是計算機科學中著名的演算法，探討固定長度數列在固定步長淘汰下的倖存者位置（Survivor Index）。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2. 花色扣牌將不同起始張數巧妙補齊為特定的數學長度。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3. 念 9 個字移牌 9 次，精準將第 1 張牌移至該長度下的「唯一倖存者序號」。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4. 花瓣淘汰循環無論如何執行，最後留下的必定是當初選定的那一張！</a:t>
            </a:r>
          </a:p>
          <a:p>
            <a:br/>
            <a:pPr>
              <a:defRPr sz="1700" b="1">
                <a:solidFill>
                  <a:srgbClr val="48CAE4"/>
                </a:solidFill>
                <a:latin typeface="Microsoft JhengHei"/>
              </a:defRPr>
            </a:pPr>
            <a:r>
              <a:t>🌟 核心心法：將數學演算法與班級文化結合，開學第一天凝聚全班向心力！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703"/>
                </a:solidFill>
                <a:latin typeface="Microsoft JhengHei"/>
              </a:defRPr>
            </a:pPr>
            <a:r>
              <a:t>活動三：躲貓貓 ｜ 【 Step 1~4 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手指走步倒數與定格捕獲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365760" b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手指放在大螢幕任意一張【紅色的牌】上，跟隨指令移動：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第 1 輪：任意移動 5 步 ➔ 老師淘汰【黑 2】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第 2 輪：任意移動 4 步 ➔ 老師淘汰【紅 1】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第 3 輪：任意移動 3 步 ➔ 老師淘汰【黑 4】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第 4 輪：任意移動 1 步 ➔ 定格不要動！</a:t>
            </a:r>
          </a:p>
          <a:p>
            <a:pPr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✨ 🎯 終極捕獲：全班所有人的手指，現在全部停在【紅 3】上！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8B4FE"/>
                </a:solidFill>
                <a:latin typeface="Microsoft JhengHei"/>
              </a:defRPr>
            </a:pPr>
            <a:r>
              <a:t>💡 獨立原理揭秘 ｜ 活動三：躲貓貓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8B4FE"/>
                </a:solidFill>
                <a:latin typeface="Microsoft JhengHei"/>
              </a:defRPr>
            </a:pPr>
            <a:r>
              <a:t>數學密碼揭秘：二分圖（Bipartite Graph）與奇偶步數定理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33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411480" tIns="365760" bIns="365760"/>
          <a:lstStyle/>
          <a:p>
            <a:pPr algn="ctr">
              <a:spcAft>
                <a:spcPts val="1200"/>
              </a:spcAft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【數學思維與密碼拆解】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1. 在紅黑相鄰的二分圖路徑中：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   • 走奇數步（1, 3, 5步）：位置一定改變顏色（紅 ➔ 黑）。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   • 走偶數步（2, 4步）：位置一定維持同色（紅 ➔ 紅）。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2. 老師隨時掌握全班手指當下的顏色狀態，並淘汰不可能停留的邊角空牌。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3. 經過 4 輪奇偶切換後，所有可能路徑全部收斂至唯一的終點【紅 3】！</a:t>
            </a:r>
          </a:p>
          <a:p>
            <a:br/>
            <a:pPr>
              <a:defRPr sz="1700" b="1">
                <a:solidFill>
                  <a:srgbClr val="48CAE4"/>
                </a:solidFill>
                <a:latin typeface="Microsoft JhengHei"/>
              </a:defRPr>
            </a:pPr>
            <a:r>
              <a:t>🌟 核心心法：課堂注意力渙散時，3 分鐘迅速抓回全班焦點的最佳利器。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703"/>
                </a:solidFill>
                <a:latin typeface="Microsoft JhengHei"/>
              </a:defRPr>
            </a:pPr>
            <a:r>
              <a:t>活動四：語文邏輯卡 ｜ 【 Step 1~4 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4 張詞語卡心靈感應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365760" b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在心中默選一個語詞（如：仙人掌），檢視 4 張卡片：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卡片 A (權重 1)：大樹、水、冰淇淋、郵筒、芬多精、游泳、包裹、駱駝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卡片 B (權重 2)：夏天、沙漠、森林、郵差、狗屋、電話、筆電、美工刀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卡片 C (權重 4)：很髒、很暗、很斜、很冰、很熱、很多、很白、很綠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卡片 D (權重 8)：宇宙、仙人掌、桌遊、鋼筆、白板、鈔票、耳機、撲克牌</a:t>
            </a:r>
          </a:p>
          <a:p>
            <a:pPr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✨ 🔮 只要學生回答哪幾張有，老師瞬間猜出心中所想的語詞！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8B4FE"/>
                </a:solidFill>
                <a:latin typeface="Microsoft JhengHei"/>
              </a:defRPr>
            </a:pPr>
            <a:r>
              <a:t>💡 獨立原理揭秘 ｜ 活動四：語文邏輯卡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8B4FE"/>
                </a:solidFill>
                <a:latin typeface="Microsoft JhengHei"/>
              </a:defRPr>
            </a:pPr>
            <a:r>
              <a:t>數學密碼揭秘：小益老師 8421 二進位位元編碼法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33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411480" tIns="365760" bIns="365760"/>
          <a:lstStyle/>
          <a:p>
            <a:pPr algn="ctr">
              <a:spcAft>
                <a:spcPts val="1200"/>
              </a:spcAft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【數學思維與密碼拆解】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1. 4 張卡片代表二進位的 4 個位元（1, 2, 4, 8），可唯一表示 0~15 共 16 種狀態。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2. 每個語詞被賦予一個唯一整數 ID（如仙人掌 = 10）。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3. 10 在二進位中表示為 8 + 2，因此「仙人掌」只會出現在卡片 D (8) 與 卡片 B (2) 上！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4. 老師只要將回答「有」的卡片權重心算相加，即可秒殺答案。</a:t>
            </a:r>
          </a:p>
          <a:p>
            <a:br/>
            <a:pPr>
              <a:defRPr sz="1700" b="1">
                <a:solidFill>
                  <a:srgbClr val="48CAE4"/>
                </a:solidFill>
                <a:latin typeface="Microsoft JhengHei"/>
              </a:defRPr>
            </a:pPr>
            <a:r>
              <a:t>🌟 核心心法：可完全客製化為課本生字、成語、歷史人物或英文單字！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703"/>
                </a:solidFill>
                <a:latin typeface="Microsoft JhengHei"/>
              </a:defRPr>
            </a:pPr>
            <a:r>
              <a:t>活動五：搶三十對決 ｜ 【 Battle 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兩人輪流報數 1~30 對決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365760" b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規則：從 1 開始報到 30，每次報 1~3 個數，先搶到 30 獲勝！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學生代表 vs 老師 / 電腦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思考問題：為什麼老師每次都能贏？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• 你能找出這場比賽的「必勝陣地」嗎？</a:t>
            </a:r>
          </a:p>
          <a:p>
            <a:pPr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✨ 大屏實戰：學生親自出招挑戰！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8B4FE"/>
                </a:solidFill>
                <a:latin typeface="Microsoft JhengHei"/>
              </a:defRPr>
            </a:pPr>
            <a:r>
              <a:t>💡 獨立原理揭秘 ｜ 活動五：搶三十對決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8B4FE"/>
                </a:solidFill>
                <a:latin typeface="Microsoft JhengHei"/>
              </a:defRPr>
            </a:pPr>
            <a:r>
              <a:t>數學密碼揭秘：n + 1 週期與同餘必勝策略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B33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411480" tIns="365760" bIns="365760"/>
          <a:lstStyle/>
          <a:p>
            <a:pPr algn="ctr">
              <a:spcAft>
                <a:spcPts val="1200"/>
              </a:spcAft>
              <a:defRPr sz="2000" b="1">
                <a:solidFill>
                  <a:srgbClr val="FFB703"/>
                </a:solidFill>
                <a:latin typeface="Microsoft JhengHei"/>
              </a:defRPr>
            </a:pPr>
            <a:r>
              <a:t>【數學思維與密碼拆解】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1. 每次最多報 3 個數，設定週期和為 3 + 1 = 4。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2. 目標除以週期：30 ÷ 4 = 7 … 2（餘數是 2）。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3. 必勝策略：先手第一步「必須搶到 2」！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4. 後續牢牢搶佔：2 ➔ 6 ➔ 10 ➔ 14 ➔ 18 ➔ 22 ➔ 26 ➔ 30！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Microsoft JhengHei"/>
              </a:defRPr>
            </a:pPr>
            <a:r>
              <a:t>   （對手報 k 個數，我就報 4 - k 個數，每輪湊成 4，穩贏不輸！）</a:t>
            </a:r>
          </a:p>
          <a:p>
            <a:br/>
            <a:pPr>
              <a:defRPr sz="1700" b="1">
                <a:solidFill>
                  <a:srgbClr val="48CAE4"/>
                </a:solidFill>
                <a:latin typeface="Microsoft JhengHei"/>
              </a:defRPr>
            </a:pPr>
            <a:r>
              <a:t>🌟 核心心法：賽局理論的經典展現，培養孩子由後往前推導的逆向工程思維。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800" b="1">
                <a:solidFill>
                  <a:srgbClr val="FFB703"/>
                </a:solidFill>
                <a:latin typeface="Microsoft JhengHei"/>
              </a:defRPr>
            </a:pPr>
            <a:r>
              <a:t>✦ 小益老師 班級經營核心心法 ✦</a:t>
            </a:r>
          </a:p>
          <a:p>
            <a:pPr algn="ctr">
              <a:spcAft>
                <a:spcPts val="800"/>
              </a:spcAft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「老師好，學生就會更好」</a:t>
            </a:r>
          </a:p>
          <a:p>
            <a:pPr algn="ctr">
              <a:spcAft>
                <a:spcPts val="2800"/>
              </a:spcAft>
              <a:defRPr sz="3600" b="1">
                <a:solidFill>
                  <a:srgbClr val="48CAE4"/>
                </a:solidFill>
                <a:latin typeface="Microsoft JhengHei"/>
              </a:defRPr>
            </a:pPr>
            <a:r>
              <a:t>「教學只有累積，沒有奇蹟」</a:t>
            </a:r>
          </a:p>
          <a:p>
            <a:pPr algn="ctr"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🌟 為每個孩子找到座標：搭建多元舞台，讓每位孩子都能發光！</a:t>
            </a:r>
            <a:br/>
            <a:r>
              <a:t>🌟 數學就是從混亂中找到不變的規律，帶領孩子看見學習的美好。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