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BBF24"/>
                </a:solidFill>
                <a:latin typeface="微軟正黑體"/>
              </a:rPr>
              <a:t>🎭 課堂破冰與引導動機活動</a:t>
            </a:r>
          </a:p>
          <a:p>
            <a:pPr algn="ctr">
              <a:spcBef>
                <a:spcPts val="1600"/>
              </a:spcBef>
            </a:pPr>
            <a:r>
              <a:rPr sz="3800" b="1">
                <a:solidFill>
                  <a:srgbClr val="F8FAFC"/>
                </a:solidFill>
                <a:latin typeface="微軟正黑體"/>
              </a:rPr>
              <a:t>【情緒默劇大偵探】
情緒四象限 · 肢體語言猜猜樂</a:t>
            </a:r>
          </a:p>
          <a:p>
            <a:pPr algn="ctr">
              <a:spcBef>
                <a:spcPts val="2000"/>
              </a:spcBef>
            </a:pPr>
            <a:r>
              <a:rPr sz="2000">
                <a:solidFill>
                  <a:srgbClr val="38BDF8"/>
                </a:solidFill>
                <a:latin typeface="微軟正黑體"/>
              </a:rPr>
              <a:t>🤫 不出一點聲音！只用眼神、表情和肢體動作，你能猜出我是哪一張卡片嗎？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4389120" cy="4114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C084FC"/>
                </a:solidFill>
                <a:latin typeface="微軟正黑體"/>
              </a:rPr>
              <a:t>🎭 課堂引導動機活動 · 比手畫腳肢體猜猜樂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8FAFC"/>
                </a:solidFill>
                <a:latin typeface="微軟正黑體"/>
              </a:rPr>
              <a:t>📜 遊戲規則：默劇大偵探的「三不與二猜」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123444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43F5E"/>
                </a:solidFill>
                <a:latin typeface="微軟正黑體"/>
              </a:rPr>
              <a:t>🤐 規則一：絕對不能出聲！
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F8FAFC"/>
                </a:solidFill>
                <a:latin typeface="微軟正黑體"/>
              </a:rPr>
              <a:t>不能發出說話聲、笑聲或狀聲詞，全靠演技！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063240"/>
            <a:ext cx="5120640" cy="123444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BBF24"/>
                </a:solidFill>
                <a:latin typeface="微軟正黑體"/>
              </a:rPr>
              <a:t>🚫 規則二：不能寫字或比注音
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F8FAFC"/>
                </a:solidFill>
                <a:latin typeface="微軟正黑體"/>
              </a:rPr>
              <a:t>不能在空中用手指寫字，也不能比數字代號。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480560"/>
            <a:ext cx="5120640" cy="123444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38BDF8"/>
                </a:solidFill>
                <a:latin typeface="微軟正黑體"/>
              </a:rPr>
              <a:t>⏳ 規則三：每回合限時 30 秒
</a:t>
            </a:r>
          </a:p>
          <a:p>
            <a:pPr>
              <a:spcBef>
                <a:spcPts val="400"/>
              </a:spcBef>
            </a:pPr>
            <a:r>
              <a:rPr sz="1250">
                <a:solidFill>
                  <a:srgbClr val="F8FAFC"/>
                </a:solidFill>
                <a:latin typeface="微軟正黑體"/>
              </a:rPr>
              <a:t>考驗表演者的肢體傳神度與全班的觀察默契！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1148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34D399"/>
                </a:solidFill>
                <a:latin typeface="微軟正黑體"/>
              </a:rPr>
              <a:t>🎯 大偵探的「二階段猜題」得分法：
</a:t>
            </a:r>
          </a:p>
          <a:p>
            <a:pPr>
              <a:spcBef>
                <a:spcPts val="800"/>
              </a:spcBef>
            </a:pPr>
            <a:r>
              <a:rPr sz="1300">
                <a:solidFill>
                  <a:srgbClr val="F8FAFC"/>
                </a:solidFill>
                <a:latin typeface="微軟正黑體"/>
              </a:rPr>
              <a:t>第 1 階段【猜象限顏色】：（得 1 分）
先看他的活力高不高？表情是舒服還是難受？
👉 搶答出：「紅區！」、「黃區！」、「藍區！」、「綠區！」
第 2 階段【精準猜卡片名稱】：（得 2 分）
在該顏色中，猜出最符合的卡片名稱！
👉 例如：「生氣卡！」、「狂喜卡！」、「疲累卡！」
🌟 加分題：說出你是從他的「哪個身體動作」看出來的？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4389120" cy="4114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C084FC"/>
                </a:solidFill>
                <a:latin typeface="微軟正黑體"/>
              </a:rPr>
              <a:t>🎭 課堂引導動機活動 · 比手畫腳肢體猜猜樂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8FAFC"/>
                </a:solidFill>
                <a:latin typeface="微軟正黑體"/>
              </a:rPr>
              <a:t>🔥 暖身暖身：全班一起動起來！動作大考驗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219456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43F5E"/>
                </a:solidFill>
                <a:latin typeface="微軟正黑體"/>
              </a:rPr>
              <a:t>🔴 紅色風暴動作！
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8FAFC"/>
                </a:solidFill>
                <a:latin typeface="微軟正黑體"/>
              </a:rPr>
              <a:t>全班起立！老師喊出口令，請大家立刻做出：
• 雙手握緊拳頭、咬牙切齒
• 雙腳原地用力跺步
• 感受高活力的「生氣」與「暴怒」！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219456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BBF24"/>
                </a:solidFill>
                <a:latin typeface="微軟正黑體"/>
              </a:rPr>
              <a:t>🟡 黃色小太陽動作！
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8FAFC"/>
                </a:solidFill>
                <a:latin typeface="微軟正黑體"/>
              </a:rPr>
              <a:t>全班起立！請大家立刻做出：
• 眼睛瞪大、笑開懷
• 雙手向上歡呼揮舞、輕輕跳躍
• 感受高活力的「狂喜」與「興奮」！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114800"/>
            <a:ext cx="5212080" cy="219456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38BDF8"/>
                </a:solidFill>
                <a:latin typeface="微軟正黑體"/>
              </a:rPr>
              <a:t>🔵 藍色下雨天動作！
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8FAFC"/>
                </a:solidFill>
                <a:latin typeface="微軟正黑體"/>
              </a:rPr>
              <a:t>全班坐下！請大家立刻做出：
• 整個肩膀垂下來、趴在桌上
• 雙手無力、深深嘆一口氣
• 感受低活力的「疲累」與「難過」！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4114800"/>
            <a:ext cx="5212080" cy="219456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34D399"/>
                </a:solidFill>
                <a:latin typeface="微軟正黑體"/>
              </a:rPr>
              <a:t>🟢 綠色微風動作！
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F8FAFC"/>
                </a:solidFill>
                <a:latin typeface="微軟正黑體"/>
              </a:rPr>
              <a:t>全班坐挺！請大家立刻做出：
• 閉上眼睛，做一次 478 慢呼吸
• 雙手自然下垂，嘴角微微放鬆上揚
• 感受低活力的「放鬆」與「平靜」！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4389120" cy="4114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C084FC"/>
                </a:solidFill>
                <a:latin typeface="微軟正黑體"/>
              </a:rPr>
              <a:t>🎭 課堂引導動機活動 · 比手畫腳肢體猜猜樂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8FAFC"/>
                </a:solidFill>
                <a:latin typeface="微軟正黑體"/>
              </a:rPr>
              <a:t>第 1 關：火山大爆發（紅色象限精選題）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514600" cy="41148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BBF24"/>
                </a:solidFill>
                <a:latin typeface="微軟正黑體"/>
              </a:rPr>
              <a:t>題目 1：【暴怒卡】
</a:t>
            </a:r>
          </a:p>
          <a:p>
            <a:pPr>
              <a:spcBef>
                <a:spcPts val="800"/>
              </a:spcBef>
            </a:pPr>
            <a:r>
              <a:rPr sz="1300">
                <a:solidFill>
                  <a:srgbClr val="F8FAFC"/>
                </a:solidFill>
                <a:latin typeface="微軟正黑體"/>
              </a:rPr>
              <a:t>肢體動作秘笈：
• 雙拳狂揮、面目猙獰
• 好像快要噴火了一樣
• 狂抓頭髮跺腳！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645920"/>
            <a:ext cx="2514600" cy="41148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BBF24"/>
                </a:solidFill>
                <a:latin typeface="微軟正黑體"/>
              </a:rPr>
              <a:t>題目 2：【緊張卡】
</a:t>
            </a:r>
          </a:p>
          <a:p>
            <a:pPr>
              <a:spcBef>
                <a:spcPts val="800"/>
              </a:spcBef>
            </a:pPr>
            <a:r>
              <a:rPr sz="1300">
                <a:solidFill>
                  <a:srgbClr val="F8FAFC"/>
                </a:solidFill>
                <a:latin typeface="微軟正黑體"/>
              </a:rPr>
              <a:t>肢體動作秘笈：
• 雙手緊抓衣角發抖
• 一直咬手指或咬下唇
• 眼神四處慌張飄移！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2514600" cy="41148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BBF24"/>
                </a:solidFill>
                <a:latin typeface="微軟正黑體"/>
              </a:rPr>
              <a:t>題目 3：【害怕卡】
</a:t>
            </a:r>
          </a:p>
          <a:p>
            <a:pPr>
              <a:spcBef>
                <a:spcPts val="800"/>
              </a:spcBef>
            </a:pPr>
            <a:r>
              <a:rPr sz="1300">
                <a:solidFill>
                  <a:srgbClr val="F8FAFC"/>
                </a:solidFill>
                <a:latin typeface="微軟正黑體"/>
              </a:rPr>
              <a:t>肢體動作秘笈：
• 雙手抱頭往後退
• 蹲下蜷縮身體
• 嘴巴微張倒吸一口氣！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61120" y="1645920"/>
            <a:ext cx="2514600" cy="41148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BBF24"/>
                </a:solidFill>
                <a:latin typeface="微軟正黑體"/>
              </a:rPr>
              <a:t>題目 4：【不耐煩卡】
</a:t>
            </a:r>
          </a:p>
          <a:p>
            <a:pPr>
              <a:spcBef>
                <a:spcPts val="800"/>
              </a:spcBef>
            </a:pPr>
            <a:r>
              <a:rPr sz="1300">
                <a:solidFill>
                  <a:srgbClr val="F8FAFC"/>
                </a:solidFill>
                <a:latin typeface="微軟正黑體"/>
              </a:rPr>
              <a:t>肢體動作秘笈：
• 雙手抱胸用力抖腳
• 頻繁看手錶翻白眼
• 眉頭打結猛搖頭！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4389120" cy="4114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C084FC"/>
                </a:solidFill>
                <a:latin typeface="微軟正黑體"/>
              </a:rPr>
              <a:t>🎭 課堂引導動機活動 · 比手畫腳肢體猜猜樂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8FAFC"/>
                </a:solidFill>
                <a:latin typeface="微軟正黑體"/>
              </a:rPr>
              <a:t>第 2 關：太陽嘉年華（黃色象限精選題）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514600" cy="41148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BBF24"/>
                </a:solidFill>
                <a:latin typeface="微軟正黑體"/>
              </a:rPr>
              <a:t>題目 1：【狂喜卡】
</a:t>
            </a:r>
          </a:p>
          <a:p>
            <a:pPr>
              <a:spcBef>
                <a:spcPts val="800"/>
              </a:spcBef>
            </a:pPr>
            <a:r>
              <a:rPr sz="1300">
                <a:solidFill>
                  <a:srgbClr val="F8FAFC"/>
                </a:solidFill>
                <a:latin typeface="微軟正黑體"/>
              </a:rPr>
              <a:t>肢體動作秘笈：
• 跳起來雙手打 V 勝利手勢
• 嘴巴張大無聲大笑
• 和假想隊友瘋狂擊掌！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645920"/>
            <a:ext cx="2514600" cy="41148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BBF24"/>
                </a:solidFill>
                <a:latin typeface="微軟正黑體"/>
              </a:rPr>
              <a:t>題目 2：【得意卡】
</a:t>
            </a:r>
          </a:p>
          <a:p>
            <a:pPr>
              <a:spcBef>
                <a:spcPts val="800"/>
              </a:spcBef>
            </a:pPr>
            <a:r>
              <a:rPr sz="1300">
                <a:solidFill>
                  <a:srgbClr val="F8FAFC"/>
                </a:solidFill>
                <a:latin typeface="微軟正黑體"/>
              </a:rPr>
              <a:t>肢體動作秘笈：
• 帥氣撥頭髮、雙手插腰
• 昂首挺胸大步邁進
• 給自己比大拇指！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2514600" cy="41148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BBF24"/>
                </a:solidFill>
                <a:latin typeface="微軟正黑體"/>
              </a:rPr>
              <a:t>題目 3：【期待卡】
</a:t>
            </a:r>
          </a:p>
          <a:p>
            <a:pPr>
              <a:spcBef>
                <a:spcPts val="800"/>
              </a:spcBef>
            </a:pPr>
            <a:r>
              <a:rPr sz="1300">
                <a:solidFill>
                  <a:srgbClr val="F8FAFC"/>
                </a:solidFill>
                <a:latin typeface="微軟正黑體"/>
              </a:rPr>
              <a:t>肢體動作秘笈：
• 雙手合十放胸前
• 踮起腳尖往前張望
• 滿臉期待搓手掌！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61120" y="1645920"/>
            <a:ext cx="2514600" cy="41148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BBF24"/>
                </a:solidFill>
                <a:latin typeface="微軟正黑體"/>
              </a:rPr>
              <a:t>題目 4：【驚喜卡】
</a:t>
            </a:r>
          </a:p>
          <a:p>
            <a:pPr>
              <a:spcBef>
                <a:spcPts val="800"/>
              </a:spcBef>
            </a:pPr>
            <a:r>
              <a:rPr sz="1300">
                <a:solidFill>
                  <a:srgbClr val="F8FAFC"/>
                </a:solidFill>
                <a:latin typeface="微軟正黑體"/>
              </a:rPr>
              <a:t>肢體動作秘笈：
• 雙手摀住嘴巴不敢相信
• 眼睛瞪得像銅鈴一樣大
• 往後退一步倒抽一口氣！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4389120" cy="4114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C084FC"/>
                </a:solidFill>
                <a:latin typeface="微軟正黑體"/>
              </a:rPr>
              <a:t>🎭 課堂引導動機活動 · 比手畫腳肢體猜猜樂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8FAFC"/>
                </a:solidFill>
                <a:latin typeface="微軟正黑體"/>
              </a:rPr>
              <a:t>第 3 關：雨中小木屋（藍色象限精選題）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514600" cy="41148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BBF24"/>
                </a:solidFill>
                <a:latin typeface="微軟正黑體"/>
              </a:rPr>
              <a:t>題目 1：【疲累卡】
</a:t>
            </a:r>
          </a:p>
          <a:p>
            <a:pPr>
              <a:spcBef>
                <a:spcPts val="800"/>
              </a:spcBef>
            </a:pPr>
            <a:r>
              <a:rPr sz="1300">
                <a:solidFill>
                  <a:srgbClr val="F8FAFC"/>
                </a:solidFill>
                <a:latin typeface="微軟正黑體"/>
              </a:rPr>
              <a:t>肢體動作秘笈：
• 雙手下垂、整個人駝背
• 連續大打無聲哈欠
• 走路拖著沉重腳步！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645920"/>
            <a:ext cx="2514600" cy="41148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BBF24"/>
                </a:solidFill>
                <a:latin typeface="微軟正黑體"/>
              </a:rPr>
              <a:t>題目 2：【難過卡】
</a:t>
            </a:r>
          </a:p>
          <a:p>
            <a:pPr>
              <a:spcBef>
                <a:spcPts val="800"/>
              </a:spcBef>
            </a:pPr>
            <a:r>
              <a:rPr sz="1300">
                <a:solidFill>
                  <a:srgbClr val="F8FAFC"/>
                </a:solidFill>
                <a:latin typeface="微軟正黑體"/>
              </a:rPr>
              <a:t>肢體動作秘笈：
• 低頭雙手擦拭眼角淚水
• 嘴唇顫抖抽咽
• 胸口像壓了石頭一樣沉！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2514600" cy="41148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BBF24"/>
                </a:solidFill>
                <a:latin typeface="微軟正黑體"/>
              </a:rPr>
              <a:t>題目 3：【孤單卡】
</a:t>
            </a:r>
          </a:p>
          <a:p>
            <a:pPr>
              <a:spcBef>
                <a:spcPts val="800"/>
              </a:spcBef>
            </a:pPr>
            <a:r>
              <a:rPr sz="1300">
                <a:solidFill>
                  <a:srgbClr val="F8FAFC"/>
                </a:solidFill>
                <a:latin typeface="微軟正黑體"/>
              </a:rPr>
              <a:t>肢體動作秘笈：
• 雙手抱住雙膝蜷縮
• 默默看著旁邊假裝熱鬧
• 眼神落寞低著頭！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61120" y="1645920"/>
            <a:ext cx="2514600" cy="41148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BBF24"/>
                </a:solidFill>
                <a:latin typeface="微軟正黑體"/>
              </a:rPr>
              <a:t>題目 4：【失望卡】
</a:t>
            </a:r>
          </a:p>
          <a:p>
            <a:pPr>
              <a:spcBef>
                <a:spcPts val="800"/>
              </a:spcBef>
            </a:pPr>
            <a:r>
              <a:rPr sz="1300">
                <a:solidFill>
                  <a:srgbClr val="F8FAFC"/>
                </a:solidFill>
                <a:latin typeface="微軟正黑體"/>
              </a:rPr>
              <a:t>肢體動作秘笈：
• 滿心期待打開盒子卻空空
• 雙手無奈一攤
• 深深垂下頭嘆好大一口氣！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4389120" cy="4114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C084FC"/>
                </a:solidFill>
                <a:latin typeface="微軟正黑體"/>
              </a:rPr>
              <a:t>🎭 課堂引導動機活動 · 比手畫腳肢體猜猜樂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8FAFC"/>
                </a:solidFill>
                <a:latin typeface="微軟正黑體"/>
              </a:rPr>
              <a:t>第 4 關：微風大草原（綠色象限精選題）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514600" cy="41148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BBF24"/>
                </a:solidFill>
                <a:latin typeface="微軟正黑體"/>
              </a:rPr>
              <a:t>題目 1：【放鬆卡】
</a:t>
            </a:r>
          </a:p>
          <a:p>
            <a:pPr>
              <a:spcBef>
                <a:spcPts val="800"/>
              </a:spcBef>
            </a:pPr>
            <a:r>
              <a:rPr sz="1300">
                <a:solidFill>
                  <a:srgbClr val="F8FAFC"/>
                </a:solidFill>
                <a:latin typeface="微軟正黑體"/>
              </a:rPr>
              <a:t>肢體動作秘笈：
• 整個人癱靠在椅背上
• 雙手雙腳大大伸展
• 露出最愜意的笑容！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1645920"/>
            <a:ext cx="2514600" cy="41148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BBF24"/>
                </a:solidFill>
                <a:latin typeface="微軟正黑體"/>
              </a:rPr>
              <a:t>題目 2：【安心卡】
</a:t>
            </a:r>
          </a:p>
          <a:p>
            <a:pPr>
              <a:spcBef>
                <a:spcPts val="800"/>
              </a:spcBef>
            </a:pPr>
            <a:r>
              <a:rPr sz="1300">
                <a:solidFill>
                  <a:srgbClr val="F8FAFC"/>
                </a:solidFill>
                <a:latin typeface="微軟正黑體"/>
              </a:rPr>
              <a:t>肢體動作秘笈：
• 用右手輕輕撫摸胸口
• 呼出一口長長安心的氣
• 眉頭完全舒展開來！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2514600" cy="41148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BBF24"/>
                </a:solidFill>
                <a:latin typeface="微軟正黑體"/>
              </a:rPr>
              <a:t>題目 3：【感謝卡】
</a:t>
            </a:r>
          </a:p>
          <a:p>
            <a:pPr>
              <a:spcBef>
                <a:spcPts val="800"/>
              </a:spcBef>
            </a:pPr>
            <a:r>
              <a:rPr sz="1300">
                <a:solidFill>
                  <a:srgbClr val="F8FAFC"/>
                </a:solidFill>
                <a:latin typeface="微軟正黑體"/>
              </a:rPr>
              <a:t>肢體動作秘笈：
• 雙手合十向對方敬禮
• 眼神誠懇充滿溫暖
• 做出把愛心遞給對方的動作！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961120" y="1645920"/>
            <a:ext cx="2514600" cy="411480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BBF24"/>
                </a:solidFill>
                <a:latin typeface="微軟正黑體"/>
              </a:rPr>
              <a:t>題目 4：【滿足卡】
</a:t>
            </a:r>
          </a:p>
          <a:p>
            <a:pPr>
              <a:spcBef>
                <a:spcPts val="800"/>
              </a:spcBef>
            </a:pPr>
            <a:r>
              <a:rPr sz="1300">
                <a:solidFill>
                  <a:srgbClr val="F8FAFC"/>
                </a:solidFill>
                <a:latin typeface="微軟正黑體"/>
              </a:rPr>
              <a:t>肢體動作秘笈：
• 用雙手幸福地摸摸肚子
• 歪著頭閉眼微笑
• 心滿意足連連點頭！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365760"/>
            <a:ext cx="4389120" cy="4114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C084FC"/>
                </a:solidFill>
                <a:latin typeface="微軟正黑體"/>
              </a:rPr>
              <a:t>🎭 課堂引導動機活動 · 比手畫腳肢體猜猜樂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686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8FAFC"/>
                </a:solidFill>
                <a:latin typeface="微軟正黑體"/>
              </a:rPr>
              <a:t>💡 大偵探破案反思：身體是情緒的「最佳告密者」！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1645920"/>
            <a:ext cx="9966960" cy="438912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BBF24"/>
                </a:solidFill>
                <a:latin typeface="微軟正黑體"/>
              </a:rPr>
              <a:t>🔍 想一想，剛才在猜謎時，你是怎麼猜到的？
</a:t>
            </a:r>
          </a:p>
          <a:p>
            <a:pPr>
              <a:spcBef>
                <a:spcPts val="1200"/>
              </a:spcBef>
            </a:pPr>
            <a:r>
              <a:rPr sz="1550">
                <a:solidFill>
                  <a:srgbClr val="F8FAFC"/>
                </a:solidFill>
                <a:latin typeface="微軟正黑體"/>
              </a:rPr>
              <a:t>1. 【看能量（活力度）】：
   他手舞足蹈、身體跳動、拳頭握緊 ➔ 活力度很高（紅區 / 黃區）！
   他無精打采、趴在桌上、肩膀放鬆 ➔ 活力度很低（藍區 / 綠區）！
2. 【看表情（愉悅度）】：
   嘴角上揚、眼睛瞇成笑線 ➔ 心情舒服愉悅（黃區 / 綠區）！
   眉頭深鎖、嘴角向下、眼泛淚光 ➔ 心情緊繃難受（紅區 / 藍區）！
👉 結語：原來就算不說話，我們的身體和表情都在向世界「說話」！
接下來，讓我們打開【情緒四象限翻翻卡】，深入探索我們的內心世界！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