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🌟 康軒國小三上社會科 · 第一單元第 3 課 🌟</a:t>
            </a:r>
          </a:p>
          <a:p>
            <a:pPr algn="ctr">
              <a:spcBef>
                <a:spcPts val="1600"/>
              </a:spcBef>
            </a:pPr>
            <a:r>
              <a:rPr sz="3800" b="1">
                <a:solidFill>
                  <a:srgbClr val="F8FAFC"/>
                </a:solidFill>
                <a:latin typeface="微軟正黑體"/>
              </a:rPr>
              <a:t>【親人的稱呼】
親人稱呼卡 · 翻牌記憶大挑戰</a:t>
            </a:r>
          </a:p>
          <a:p>
            <a:pPr algn="ctr">
              <a:spcBef>
                <a:spcPts val="2000"/>
              </a:spcBef>
            </a:pPr>
            <a:r>
              <a:rPr sz="2000">
                <a:solidFill>
                  <a:srgbClr val="F97316"/>
                </a:solidFill>
                <a:latin typeface="微軟正黑體"/>
              </a:rPr>
              <a:t>👨‍👩‍👧‍👦 認識父系母系稱謂 · 分清堂兄弟與表姊妹 · 翻卡遊戲神配對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7316"/>
                </a:solidFill>
                <a:latin typeface="微軟正黑體"/>
              </a:rPr>
              <a:t>👨‍👩‍👧‍👦 康軒三上社會 · 1-3 親人的稱呼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🗺️ 家族大樹：父方親屬 vs 母方親屬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38BDF8"/>
                </a:solidFill>
                <a:latin typeface="微軟正黑體"/>
              </a:rPr>
              <a:t>👨 爸爸這邊的親屬（父系家族）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• 祖父母長輩：
  - 爸爸的爸爸 ➔ 爺爺（祖父）
  - 爸爸的媽媽 ➔ 奶奶（祖母）
• 爸爸的兄弟姊妹：
  - 爸爸的哥哥 ➔ 伯父（其妻為伯母）
  - 爸爸的弟弟 ➔ 叔叔（其妻為嬸嬸）
  - 爸爸的姊妹 ➔ 姑姑（其夫為姑丈）
• 平輩稱呼：
  - 伯父、叔叔的孩子 ➔ 堂兄弟姊妹（同姓）
  - 姑姑的孩子 ➔ 表兄弟姊妹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97316"/>
                </a:solidFill>
                <a:latin typeface="微軟正黑體"/>
              </a:rPr>
              <a:t>👩 媽媽這邊的親屬（母系家族）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• 外祖父母長輩：
  - 媽媽的爸爸 ➔ 外公（外祖父）
  - 媽媽的媽媽 ➔ 外婆（外祖母）
• 媽媽的兄弟姊妹：
  - 媽媽的兄弟 ➔ 舅舅（其妻為舅媽）
  - 媽媽的姊妹 ➔ 阿姨（其夫為姨丈）
• 平輩稱呼：
  - 舅舅、阿姨的孩子 ➔ 表兄弟姊妹
💡 溫馨口訣：伯叔的孩子是「堂」，姑舅姨的孩子都是「表」！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7316"/>
                </a:solidFill>
                <a:latin typeface="微軟正黑體"/>
              </a:rPr>
              <a:t>👨‍👩‍👧‍👦 康軒三上社會 · 1-3 親人的稱呼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👨 父系長輩親人稱呼卡（翻卡神配對）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微軟正黑體"/>
              </a:rPr>
              <a:t>爺爺 / 奶奶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【關係說明】
爸爸的爸爸叫爺爺，爸爸的媽媽叫奶奶。
【配對卡片】
「爸爸的父母」➔「爺爺奶奶」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微軟正黑體"/>
              </a:rPr>
              <a:t>伯父 / 伯母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【關係說明】
爸爸的哥哥叫伯父（伯伯），他的妻子叫伯母。
【配對卡片】
「爸爸的哥哥」➔「伯父」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微軟正黑體"/>
              </a:rPr>
              <a:t>叔叔 / 嬸嬸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【關係說明】
爸爸的弟弟叫叔叔，叔叔的妻子叫嬸嬸。
【配對卡片】
「爸爸的弟弟」➔「叔叔」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微軟正黑體"/>
              </a:rPr>
              <a:t>姑姑 / 姑丈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【關係說明】
爸爸的姊姊或妹妹叫姑姑，她的丈夫叫姑丈。
【配對卡片】
「爸爸的姐妹」➔「姑姑」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7316"/>
                </a:solidFill>
                <a:latin typeface="微軟正黑體"/>
              </a:rPr>
              <a:t>👨‍👩‍👧‍👦 康軒三上社會 · 1-3 親人的稱呼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👩 母系長輩親人稱呼卡（翻卡神配對）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外公 / 外婆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【關係說明】
媽媽的爸爸叫外公，媽媽的媽媽叫外婆。
【配對卡片】
「媽媽的父母」➔「外公外婆」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舅舅 / 舅媽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【關係說明】
媽媽的兄弟（哥哥或弟弟）叫舅舅，他的妻子叫舅媽。
【配對卡片】
「媽媽的兄弟」➔「舅舅」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阿姨 / 姨丈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【關係說明】
媽媽的姊妹（姊姊或妹妹）叫阿姨，她的丈夫叫姨丈。
【配對卡片】
「媽媽的姐妹」➔「阿姨」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7316"/>
                </a:solidFill>
                <a:latin typeface="微軟正黑體"/>
              </a:rPr>
              <a:t>👨‍👩‍👧‍👦 康軒三上社會 · 1-3 親人的稱呼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🔍 平輩大解密：是「堂兄弟姊妹」還是「表兄弟姊妹」？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34D399"/>
                </a:solidFill>
                <a:latin typeface="微軟正黑體"/>
              </a:rPr>
              <a:t>🌿 堂兄弟姊妹（同姓大本營）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• 是誰的孩子？
  👉 只有「伯父」和「叔叔」的小孩！
• 姓氏特徵：
  👉 和我們通常擁有「同一個姓氏」！
• 稱呼方式：
  - 年紀比我大：堂哥、堂姐
  - 年紀比我小：堂弟、堂妹
💡 記憶口訣：『伯叔同堂』（同在一個屋簷下同姓）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84FC"/>
                </a:solidFill>
                <a:latin typeface="微軟正黑體"/>
              </a:rPr>
              <a:t>🍇 表兄弟姊妹（異姓好朋友）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• 是誰的孩子？
  👉 「姑姑」、「舅舅」、「阿姨」的小孩！
• 姓氏特徵：
  👉 姓氏通常和我們「不一樣」！
• 稱呼方式：
  - 年紀比我大：表哥、表姐
  - 年紀比我小：表弟、表妹
💡 記憶口訣：『姑舅姨都是表，不同姓感情一樣好』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7316"/>
                </a:solidFill>
                <a:latin typeface="微軟正黑體"/>
              </a:rPr>
              <a:t>👨‍👩‍👧‍👦 康軒三上社會 · 1-3 親人的稱呼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🎮 翻卡遊戲規則：親人稱呼記憶大配對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8BDF8"/>
                </a:solidFill>
                <a:latin typeface="微軟正黑體"/>
              </a:rPr>
              <a:t>步驟 1：翻開第 1 張卡  ➔  </a:t>
            </a:r>
            <a:r>
              <a:rPr sz="1400">
                <a:solidFill>
                  <a:srgbClr val="F8FAFC"/>
                </a:solidFill>
                <a:latin typeface="微軟正黑體"/>
              </a:rPr>
              <a:t>點擊大屏或桌上卡牌，翻開一張「關係題目卡」（如：媽媽的哥哥）。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步驟 2：回想正確稱呼  ➔  </a:t>
            </a:r>
            <a:r>
              <a:rPr sz="1400">
                <a:solidFill>
                  <a:srgbClr val="F8FAFC"/>
                </a:solidFill>
                <a:latin typeface="微軟正黑體"/>
              </a:rPr>
              <a:t>全班或小組在腦海中快速檢索稱謂（媽媽的兄弟是？➔ 舅舅！）。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1033272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97316"/>
                </a:solidFill>
                <a:latin typeface="微軟正黑體"/>
              </a:rPr>
              <a:t>步驟 3：翻開第 2 張卡  ➔  </a:t>
            </a:r>
            <a:r>
              <a:rPr sz="1400">
                <a:solidFill>
                  <a:srgbClr val="F8FAFC"/>
                </a:solidFill>
                <a:latin typeface="微軟正黑體"/>
              </a:rPr>
              <a:t>試著找出對應的「親人稱呼卡」（如：舅舅卡）。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74920"/>
            <a:ext cx="1033272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4D399"/>
                </a:solidFill>
                <a:latin typeface="微軟正黑體"/>
              </a:rPr>
              <a:t>步驟 4：配對成功得分！  ➔  </a:t>
            </a:r>
            <a:r>
              <a:rPr sz="1400">
                <a:solidFill>
                  <a:srgbClr val="F8FAFC"/>
                </a:solidFill>
                <a:latin typeface="微軟正黑體"/>
              </a:rPr>
              <a:t>若兩張配對正確，卡片消除並得 2 分；若翻錯卡片自動翻回背面！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7316"/>
                </a:solidFill>
                <a:latin typeface="微軟正黑體"/>
              </a:rPr>
              <a:t>👨‍👩‍👧‍👦 康軒三上社會 · 1-3 親人的稱呼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🎭 生活情境翻卡大挑戰（隨堂快問快答）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8BDF8"/>
                </a:solidFill>
                <a:latin typeface="微軟正黑體"/>
              </a:rPr>
              <a:t>情境 1：過年回老家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爸爸的弟弟帶全家人來拜年，走進客廳時，我要大聲稱呼他為？
👉 翻開卡片答案：【叔叔】（他的妻子稱呼為嬸嬸）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97316"/>
                </a:solidFill>
                <a:latin typeface="微軟正黑體"/>
              </a:rPr>
              <a:t>情境 2：中秋節烤肉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媽媽的妹妹拿著烤肉串笑咪咪走過來，我要怎麼稱呼她？
👉 翻開卡片答案：【阿姨】（她的丈夫稱呼為姨丈）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4D399"/>
                </a:solidFill>
                <a:latin typeface="微軟正黑體"/>
              </a:rPr>
              <a:t>情境 3：公園玩溜滑梯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伯父的兒子今年讀小學四年級，我應該叫他什麼？
👉 翻開卡片答案：【堂哥】（伯叔之子為堂）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84FC"/>
                </a:solidFill>
                <a:latin typeface="微軟正黑體"/>
              </a:rPr>
              <a:t>情境 4：生日派對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姑姑的女兒送我一盒精美彩色筆，我應該稱呼她為？
👉 翻開卡片答案：【表姊 / 表妹】（姑舅姨之子為表）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BBF24"/>
                </a:solidFill>
                <a:latin typeface="微軟正黑體"/>
              </a:rPr>
              <a:t>🌟 親人稱呼與互動禮貌金句 🌟
</a:t>
            </a:r>
          </a:p>
          <a:p>
            <a:pPr algn="ctr">
              <a:spcBef>
                <a:spcPts val="1800"/>
              </a:spcBef>
            </a:pPr>
            <a:r>
              <a:rPr sz="1700" b="1">
                <a:solidFill>
                  <a:srgbClr val="F8FAFC"/>
                </a:solidFill>
                <a:latin typeface="微軟正黑體"/>
              </a:rPr>
              <a:t>「正確稱呼展現教養，主動問候傳遞溫暖！」
✨ 見到長輩：主動大方叫出正確稱謂，點頭問好笑咪咪。
✨ 與平輩相處：堂表兄弟姊妹相親相愛，互相禮讓不爭吵。
✨ 逢年過節：透過電話、卡片或聚會，關心遠方的親戚長輩。
現在就打開大屏翻卡遊戲，看看誰是我們班的『親人稱呼神探王』！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