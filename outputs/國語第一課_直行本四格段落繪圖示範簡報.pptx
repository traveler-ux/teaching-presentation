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914400"/>
            <a:ext cx="9448495" cy="5029200"/>
          </a:xfrm>
          <a:prstGeom prst="roundRect">
            <a:avLst/>
          </a:prstGeom>
          <a:solidFill>
            <a:srgbClr val="1C2541"/>
          </a:solidFill>
          <a:ln w="3175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400"/>
              </a:spcAft>
              <a:defRPr sz="1800" b="1">
                <a:solidFill>
                  <a:srgbClr val="38BDF8"/>
                </a:solidFill>
                <a:latin typeface="微軟正黑體"/>
              </a:defRPr>
            </a:pPr>
            <a:r>
              <a:t>南一版國小國語三上 • 第一課〈你好，新朋友〉</a:t>
            </a:r>
          </a:p>
          <a:p>
            <a:pPr algn="ctr">
              <a:spcAft>
                <a:spcPts val="1600"/>
              </a:spcAft>
              <a:defRPr sz="3600" b="1">
                <a:solidFill>
                  <a:srgbClr val="FFB703"/>
                </a:solidFill>
                <a:latin typeface="微軟正黑體"/>
              </a:defRPr>
            </a:pPr>
            <a:r>
              <a:t>🎨 國語直行本「段落四格圖文筆記」創作</a:t>
            </a:r>
          </a:p>
          <a:p>
            <a:pPr algn="ctr">
              <a:spcAft>
                <a:spcPts val="2000"/>
              </a:spcAft>
              <a:defRPr sz="1800" b="1">
                <a:solidFill>
                  <a:srgbClr val="FFFFFF"/>
                </a:solidFill>
                <a:latin typeface="微軟正黑體"/>
              </a:defRPr>
            </a:pPr>
            <a:r>
              <a:t>動動小手折四格 • 一段一圖畫重點 • 寫下專屬自我介紹！</a:t>
            </a:r>
          </a:p>
          <a:p>
            <a:pPr algn="ctr">
              <a:defRPr sz="1600">
                <a:solidFill>
                  <a:srgbClr val="94A3B8"/>
                </a:solidFill>
                <a:latin typeface="微軟正黑體"/>
              </a:defRPr>
            </a:pPr>
            <a:r>
              <a:t>☀️ 太陽 ｜ 🐦 小雲雀 ｜ 🌬️ 風 ｜ 👦 小豆子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C084FC"/>
                </a:solidFill>
                <a:latin typeface="微軟正黑體"/>
              </a:defRPr>
            </a:pPr>
            <a:r>
              <a:t>【事前準備】如何將本子變成美麗的四格畫布？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📐 步驟一：國語直行本「四格折紙與版面佈局」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9377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C084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  <a:defRPr sz="2000" b="1">
                <a:solidFill>
                  <a:srgbClr val="FFB703"/>
                </a:solidFill>
                <a:latin typeface="微軟正黑體"/>
              </a:defRPr>
            </a:pPr>
            <a:r>
              <a:t>📖 直行本折紙三步驟：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微軟正黑體"/>
              </a:defRPr>
            </a:pPr>
            <a:r>
              <a:t>1. 打開直行本全新跨頁（或單頁），左右對齊向中間折一半，壓出【垂直中線】。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微軟正黑體"/>
              </a:defRPr>
            </a:pPr>
            <a:r>
              <a:t>2. 上下對齊再折一半，壓出【水平中線】。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微軟正黑體"/>
              </a:defRPr>
            </a:pPr>
            <a:r>
              <a:t>3. 攤開本子，用尺和黑筆沿著折痕畫十字線，完美分成【四大格】！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  <a:latin typeface="微軟正黑體"/>
              </a:defRPr>
            </a:pPr>
            <a:r>
              <a:t>4. 每格上方 3/4 畫圖，下方保留 2~3 行直行格子寫課文句子。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212080" cy="4937760"/>
          </a:xfrm>
          <a:prstGeom prst="roundRect">
            <a:avLst/>
          </a:prstGeom>
          <a:solidFill>
            <a:srgbClr val="0F172A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000"/>
              </a:spcAft>
              <a:defRPr sz="1800" b="1">
                <a:solidFill>
                  <a:srgbClr val="38BDF8"/>
                </a:solidFill>
                <a:latin typeface="微軟正黑體"/>
              </a:defRPr>
            </a:pPr>
            <a:r>
              <a:t>🖼️ 直行本四格版面分配：</a:t>
            </a:r>
          </a:p>
          <a:p>
            <a:pPr>
              <a:spcAft>
                <a:spcPts val="400"/>
              </a:spcAft>
              <a:defRPr sz="1300">
                <a:solidFill>
                  <a:srgbClr val="FFB703"/>
                </a:solidFill>
                <a:latin typeface="微軟正黑體"/>
              </a:defRPr>
            </a:pPr>
            <a:r>
              <a:t>【第 1 格】（右上或左上）：☀️ 熱情的太陽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微軟正黑體"/>
              </a:defRPr>
            </a:pPr>
            <a:r>
              <a:t>  ➔ 畫太陽伸暖手拍小草 ＋ 寫「我是太陽...」</a:t>
            </a:r>
          </a:p>
          <a:p>
            <a:pPr>
              <a:spcAft>
                <a:spcPts val="400"/>
              </a:spcAft>
              <a:defRPr sz="1300">
                <a:solidFill>
                  <a:srgbClr val="FFB703"/>
                </a:solidFill>
                <a:latin typeface="微軟正黑體"/>
              </a:defRPr>
            </a:pPr>
            <a:r>
              <a:t>【第 2 格】（右下或左下）：🐦 唱歌的小雲雀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微軟正黑體"/>
              </a:defRPr>
            </a:pPr>
            <a:r>
              <a:t>  ➔ 畫小雲雀飛青山半空 ＋ 寫「我是小雲雀...」</a:t>
            </a:r>
          </a:p>
          <a:p>
            <a:pPr>
              <a:spcAft>
                <a:spcPts val="400"/>
              </a:spcAft>
              <a:defRPr sz="1300">
                <a:solidFill>
                  <a:srgbClr val="FFB703"/>
                </a:solidFill>
                <a:latin typeface="微軟正黑體"/>
              </a:defRPr>
            </a:pPr>
            <a:r>
              <a:t>【第 3 格】（右上或第二頁上）：🌬️ 旅行的風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微軟正黑體"/>
              </a:defRPr>
            </a:pPr>
            <a:r>
              <a:t>  ➔ 畫風接住落葉看綿羊 ＋ 寫「我是風...」</a:t>
            </a:r>
          </a:p>
          <a:p>
            <a:pPr>
              <a:spcAft>
                <a:spcPts val="400"/>
              </a:spcAft>
              <a:defRPr sz="1300">
                <a:solidFill>
                  <a:srgbClr val="FFB703"/>
                </a:solidFill>
                <a:latin typeface="微軟正黑體"/>
              </a:defRPr>
            </a:pPr>
            <a:r>
              <a:t>【第 4 格】（右下或第二頁下）：👦 開朗的小豆子</a:t>
            </a:r>
          </a:p>
          <a:p>
            <a:pPr>
              <a:spcAft>
                <a:spcPts val="400"/>
              </a:spcAft>
              <a:defRPr sz="1300">
                <a:solidFill>
                  <a:srgbClr val="94A3B8"/>
                </a:solidFill>
                <a:latin typeface="微軟正黑體"/>
              </a:defRPr>
            </a:pPr>
            <a:r>
              <a:t>  ➔ 畫小豆子快樂踢足球 ＋ 寫「我是開朗的...」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B703"/>
                </a:solidFill>
                <a:latin typeface="微軟正黑體"/>
              </a:defRPr>
            </a:pPr>
            <a:r>
              <a:t>【第一段創作示範】感受陽光的溫暖與熱情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☀️ 第 1 格示範：熱情的太陽與泥土小草</a:t>
            </a:r>
          </a:p>
        </p:txBody>
      </p:sp>
      <p:pic>
        <p:nvPicPr>
          <p:cNvPr id="5" name="Picture 4" descr="lesson1_p1_su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38234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80160"/>
            <a:ext cx="5303520" cy="502920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FFB703"/>
                </a:solidFill>
                <a:latin typeface="微軟正黑體"/>
              </a:defRPr>
            </a:pPr>
            <a:r>
              <a:t>📜 課文金句（寫在直行本格子裡）：</a:t>
            </a:r>
          </a:p>
          <a:p>
            <a:pPr>
              <a:spcAft>
                <a:spcPts val="1400"/>
              </a:spcAft>
              <a:defRPr sz="1400" b="1">
                <a:solidFill>
                  <a:srgbClr val="FFB703"/>
                </a:solidFill>
                <a:latin typeface="標楷體"/>
              </a:defRPr>
            </a:pPr>
            <a:r>
              <a:t>「我是太陽，有一顆熱情的心。我讓水滴化成彩虹，大海也會閃閃發亮。」</a:t>
            </a:r>
          </a:p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微軟正黑體"/>
              </a:defRPr>
            </a:pPr>
            <a:r>
              <a:t>🎨 畫畫小秘訣（幾何圖形拆解）：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1. 【畫太陽】：在上方畫一個大圓形，加上微笑與光芒。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2. 【畫暖手】：從太陽伸出兩隻長長的「波浪手」往下探。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3. 【畫小草】：下方畫一小撮泥土，長出兩片微笑綠葉。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4. 【添色彩】：遠處畫一道七彩彩虹和藍色波浪大海。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8BDF8"/>
                </a:solidFill>
                <a:latin typeface="微軟正黑體"/>
              </a:defRPr>
            </a:pPr>
            <a:r>
              <a:t>【第二段創作示範】展現清脆動人的歌聲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🐦 第 2 格示範：唱歌的小雲雀與青山</a:t>
            </a:r>
          </a:p>
        </p:txBody>
      </p:sp>
      <p:pic>
        <p:nvPicPr>
          <p:cNvPr id="5" name="Picture 4" descr="lesson1_p2_skyl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38234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80160"/>
            <a:ext cx="5303520" cy="502920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38BDF8"/>
                </a:solidFill>
                <a:latin typeface="微軟正黑體"/>
              </a:defRPr>
            </a:pPr>
            <a:r>
              <a:t>📜 課文金句（寫在直行本格子裡）：</a:t>
            </a:r>
          </a:p>
          <a:p>
            <a:pPr>
              <a:spcAft>
                <a:spcPts val="1400"/>
              </a:spcAft>
              <a:defRPr sz="1400" b="1">
                <a:solidFill>
                  <a:srgbClr val="FFB703"/>
                </a:solidFill>
                <a:latin typeface="標楷體"/>
              </a:defRPr>
            </a:pPr>
            <a:r>
              <a:t>「我是小雲雀，沒有多彩的羽衣，卻有清脆的歌聲。我喜歡一邊唱歌，一邊停留半空中。」</a:t>
            </a:r>
          </a:p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微軟正黑體"/>
              </a:defRPr>
            </a:pPr>
            <a:r>
              <a:t>🎨 畫畫小秘訣（幾何圖形拆解）：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1. 【畫雲雀】：在中間畫橢圓身體，畫上張開的翅膀與小尖嘴。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2. 【畫音符】：在小鳥嘴巴前畫上 🎵 🎶 跳動的音符。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3. 【畫青山】：背景用波浪起伏線條畫出連綿綠色大山。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4. 【加細節】：畫上純樸的咖啡色羽毛，停在藍天半空中。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微軟正黑體"/>
              </a:defRPr>
            </a:pPr>
            <a:r>
              <a:t>【第三段創作示範】溫柔陪伴與四處旅行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🌬️ 第 3 格示範：旅行的風與金黃落葉</a:t>
            </a:r>
          </a:p>
        </p:txBody>
      </p:sp>
      <p:pic>
        <p:nvPicPr>
          <p:cNvPr id="5" name="Picture 4" descr="lesson1_p3_win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38234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80160"/>
            <a:ext cx="5303520" cy="502920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F43F5E"/>
                </a:solidFill>
                <a:latin typeface="微軟正黑體"/>
              </a:defRPr>
            </a:pPr>
            <a:r>
              <a:t>📜 課文金句（寫在直行本格子裡）：</a:t>
            </a:r>
          </a:p>
          <a:p>
            <a:pPr>
              <a:spcAft>
                <a:spcPts val="1400"/>
              </a:spcAft>
              <a:defRPr sz="1400" b="1">
                <a:solidFill>
                  <a:srgbClr val="FFB703"/>
                </a:solidFill>
                <a:latin typeface="標楷體"/>
              </a:defRPr>
            </a:pPr>
            <a:r>
              <a:t>「我是風，最喜歡四處旅行。帶你去聞百合的花香，帶你去看成群的綿羊，再送你平安回地面的家。」</a:t>
            </a:r>
          </a:p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微軟正黑體"/>
              </a:defRPr>
            </a:pPr>
            <a:r>
              <a:t>🎨 畫畫小秘訣（幾何圖形拆解）：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1. 【畫風精靈】：畫一個微笑臉龐，長髮像白雲波浪一樣飄逸。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2. 【畫落葉】：風的雙手輕輕捧著一片金色旋轉的落葉。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3. 【畫花與羊】：下方草地畫幾朵白百合，遠處畫幾隻白綿羊。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4. 【塗顏色】：用淡藍色、淺黃色營造微風輕拂的夢幻感。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34D399"/>
                </a:solidFill>
                <a:latin typeface="微軟正黑體"/>
              </a:defRPr>
            </a:pPr>
            <a:r>
              <a:t>【第四段創作示範】開朗自我介紹與快樂時光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👦 第 4 格示範：開朗的小豆子與足球</a:t>
            </a:r>
          </a:p>
        </p:txBody>
      </p:sp>
      <p:pic>
        <p:nvPicPr>
          <p:cNvPr id="5" name="Picture 4" descr="lesson1_p4_bo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280160"/>
            <a:ext cx="5120640" cy="3823411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126480" y="1280160"/>
            <a:ext cx="5303520" cy="502920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  <a:defRPr sz="1500" b="1">
                <a:solidFill>
                  <a:srgbClr val="34D399"/>
                </a:solidFill>
                <a:latin typeface="微軟正黑體"/>
              </a:defRPr>
            </a:pPr>
            <a:r>
              <a:t>📜 課文金句（寫在直行本格子裡）：</a:t>
            </a:r>
          </a:p>
          <a:p>
            <a:pPr>
              <a:spcAft>
                <a:spcPts val="1400"/>
              </a:spcAft>
              <a:defRPr sz="1400" b="1">
                <a:solidFill>
                  <a:srgbClr val="FFB703"/>
                </a:solidFill>
                <a:latin typeface="標楷體"/>
              </a:defRPr>
            </a:pPr>
            <a:r>
              <a:t>「我是開朗的小豆子，最會踢足球。人和球一起飛奔，是最快樂的時光。」</a:t>
            </a:r>
          </a:p>
          <a:p>
            <a:pPr>
              <a:spcAft>
                <a:spcPts val="600"/>
              </a:spcAft>
              <a:defRPr sz="1500" b="1">
                <a:solidFill>
                  <a:srgbClr val="38BDF8"/>
                </a:solidFill>
                <a:latin typeface="微軟正黑體"/>
              </a:defRPr>
            </a:pPr>
            <a:r>
              <a:t>🎨 畫畫小秘訣（幾何圖形拆解）：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1. 【畫主角】：畫一個大笑奔跑的小男孩（或是你自己！）。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2. 【畫足球】：腳邊畫一個黑白格子的圓形足球與運動線條。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3. 【畫背景】：畫出學校教室與操場上揮手歡呼的新同學。</a:t>
            </a:r>
          </a:p>
          <a:p>
            <a:pPr>
              <a:spcAft>
                <a:spcPts val="600"/>
              </a:spcAft>
              <a:defRPr sz="1300">
                <a:solidFill>
                  <a:srgbClr val="FFFFFF"/>
                </a:solidFill>
                <a:latin typeface="微軟正黑體"/>
              </a:defRPr>
            </a:pPr>
            <a:r>
              <a:t>4. 【寫文字】：工整寫下自我介紹金句，完成四格作品！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solidFill>
              <a:srgbClr val="0B13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B703"/>
                </a:solidFill>
                <a:latin typeface="微軟正黑體"/>
              </a:defRPr>
            </a:pPr>
            <a:r>
              <a:t>【分享發表】互相欣賞四格筆記，成為最好的新朋友！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微軟正黑體"/>
              </a:defRPr>
            </a:pPr>
            <a:r>
              <a:t>🌟 成果大展演：看圖朗讀與新朋友分享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1945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FFB70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B703"/>
                </a:solidFill>
                <a:latin typeface="微軟正黑體"/>
              </a:defRPr>
            </a:pPr>
            <a:r>
              <a:t>第 1 格：太陽 ☀️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標楷體"/>
              </a:defRPr>
            </a:pPr>
            <a:r>
              <a:t>我是太陽，有一顆熱情的心...</a:t>
            </a:r>
          </a:p>
          <a:p>
            <a:pPr>
              <a:defRPr sz="1200">
                <a:solidFill>
                  <a:srgbClr val="94A3B8"/>
                </a:solidFill>
                <a:latin typeface="微軟正黑體"/>
              </a:defRPr>
            </a:pPr>
            <a:r>
              <a:t>🎯 發表挑戰：看著自己的圖，不用看課本，流利說出這一段！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371600"/>
            <a:ext cx="5120640" cy="21945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B703"/>
                </a:solidFill>
                <a:latin typeface="微軟正黑體"/>
              </a:defRPr>
            </a:pPr>
            <a:r>
              <a:t>第 2 格：雲雀 🐦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標楷體"/>
              </a:defRPr>
            </a:pPr>
            <a:r>
              <a:t>我是小雲雀，沒有多彩的羽衣...</a:t>
            </a:r>
          </a:p>
          <a:p>
            <a:pPr>
              <a:defRPr sz="1200">
                <a:solidFill>
                  <a:srgbClr val="94A3B8"/>
                </a:solidFill>
                <a:latin typeface="微軟正黑體"/>
              </a:defRPr>
            </a:pPr>
            <a:r>
              <a:t>🎯 發表挑戰：看著自己的圖，不用看課本，流利說出這一段！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5120640" cy="21945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B703"/>
                </a:solidFill>
                <a:latin typeface="微軟正黑體"/>
              </a:defRPr>
            </a:pPr>
            <a:r>
              <a:t>第 3 格：微風 🌬️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標楷體"/>
              </a:defRPr>
            </a:pPr>
            <a:r>
              <a:t>我是風，最喜歡四處旅行...</a:t>
            </a:r>
          </a:p>
          <a:p>
            <a:pPr>
              <a:defRPr sz="1200">
                <a:solidFill>
                  <a:srgbClr val="94A3B8"/>
                </a:solidFill>
                <a:latin typeface="微軟正黑體"/>
              </a:defRPr>
            </a:pPr>
            <a:r>
              <a:t>🎯 發表挑戰：看著自己的圖，不用看課本，流利說出這一段！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3840480"/>
            <a:ext cx="5120640" cy="2194560"/>
          </a:xfrm>
          <a:prstGeom prst="roundRect">
            <a:avLst/>
          </a:prstGeom>
          <a:solidFill>
            <a:srgbClr val="1C2541"/>
          </a:solidFill>
          <a:ln w="2540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sz="1800" b="1">
                <a:solidFill>
                  <a:srgbClr val="FFB703"/>
                </a:solidFill>
                <a:latin typeface="微軟正黑體"/>
              </a:defRPr>
            </a:pPr>
            <a:r>
              <a:t>第 4 格：小豆子 👦</a:t>
            </a:r>
          </a:p>
          <a:p>
            <a:pPr>
              <a:spcAft>
                <a:spcPts val="800"/>
              </a:spcAft>
              <a:defRPr sz="1400">
                <a:solidFill>
                  <a:srgbClr val="FFFFFF"/>
                </a:solidFill>
                <a:latin typeface="標楷體"/>
              </a:defRPr>
            </a:pPr>
            <a:r>
              <a:t>我是開朗的小豆子，最會踢足球...</a:t>
            </a:r>
          </a:p>
          <a:p>
            <a:pPr>
              <a:defRPr sz="1200">
                <a:solidFill>
                  <a:srgbClr val="94A3B8"/>
                </a:solidFill>
                <a:latin typeface="微軟正黑體"/>
              </a:defRPr>
            </a:pPr>
            <a:r>
              <a:t>🎯 發表挑戰：看著自己的圖，不用看課本，流利說出這一段！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