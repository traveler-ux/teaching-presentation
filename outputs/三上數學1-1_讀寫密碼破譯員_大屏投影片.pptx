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Microsoft JhengHei"/>
              </a:defRPr>
            </a:pPr>
            <a:r>
              <a:t>🕵️‍♂️【讀寫密碼破譯員】課堂小遊戲</a:t>
            </a:r>
          </a:p>
          <a:p>
            <a:pPr algn="ctr">
              <a:defRPr sz="2600">
                <a:solidFill>
                  <a:srgbClr val="E2E8F0"/>
                </a:solidFill>
                <a:latin typeface="Microsoft JhengHei"/>
              </a:defRPr>
            </a:pPr>
            <a:r>
              <a:t>三上數學 1-1《10000以內的數》位值讀寫大挑戰</a:t>
            </a:r>
            <a:br/>
            <a:r>
              <a:t>規則：看題目國字讀法，45 秒內小白板寫出阿拉伯數字密碼！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1 題 ➔ 基礎四位數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JhengHei"/>
              </a:defRPr>
            </a:pPr>
            <a:r>
              <a:t>「 請破譯：三千五百二十八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破譯線索：四個位值皆有數字 ➔ 算好立刻亮板！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1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3528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讀作：三千五百二十八 】</a:t>
            </a:r>
            <a:br/>
            <a:r>
              <a:t>位值拆解：3個千、5個百、2個十、8個一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破譯要訣：依千位、百位、十位、個位順序寫下數字。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2 題 ➔ 經典陷阱（百位為零）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JhengHei"/>
              </a:defRPr>
            </a:pPr>
            <a:r>
              <a:t>「 請破譯：六千零七十五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破譯線索：注意「零」出現在哪個位值？ ➔ 算好立刻亮板！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2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6075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讀作：六千零七十五 】</a:t>
            </a:r>
            <a:br/>
            <a:r>
              <a:t>位值拆解：6個千、0個百、7個十、5個一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破譯要訣：「零」在百位，百位記得一定要補 0！不可漏寫成 675。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3 題 ➔ 經典陷阱（十位為零）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JhengHei"/>
              </a:defRPr>
            </a:pPr>
            <a:r>
              <a:t>「 請破譯：四千八百零二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破譯線索：注意十位沒有十！ ➔ 算好立刻亮板！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3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4802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讀作：四千八百零二 】</a:t>
            </a:r>
            <a:br/>
            <a:r>
              <a:t>位值拆解：4個千、8個百、0個十、2個一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破譯要訣：十位讀作「零」，十位補 0，個位是 2。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4 題 ➔ 尾數為零（個位為零）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JhengHei"/>
              </a:defRPr>
            </a:pPr>
            <a:r>
              <a:t>「 請破譯：七千三百六十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破譯線索：「六十」後面沒有個位數！ ➔ 算好立刻亮板！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4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7360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讀作：七千三百六十 】</a:t>
            </a:r>
            <a:br/>
            <a:r>
              <a:t>位值拆解：7個千、3個百、6個十、0個一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破譯要訣：「六十」代表 6 個十，個位沒有要補 0。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5 題 ➔ 雙重零陷阱（連續零）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0" b="1">
                <a:solidFill>
                  <a:srgbClr val="0F172A"/>
                </a:solidFill>
                <a:latin typeface="Microsoft JhengHei"/>
              </a:defRPr>
            </a:pPr>
            <a:r>
              <a:t>「 請破譯：八千零九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破譯線索：中間沒有百也沒有十！ ➔ 算好立刻亮板！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5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8009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讀作：八千零九 】</a:t>
            </a:r>
            <a:br/>
            <a:r>
              <a:t>位值拆解：8個千、0個百、0個十、9個一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破譯要訣：讀法中只唸一個「零」，但百位和十位都要補 0！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6 題 ➔ 間隔零陷阱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0" b="1">
                <a:solidFill>
                  <a:srgbClr val="0F172A"/>
                </a:solidFill>
                <a:latin typeface="Microsoft JhengHei"/>
              </a:defRPr>
            </a:pPr>
            <a:r>
              <a:t>「 請破譯：五千零五十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破譯線索：百位和個位都沒有！ ➔ 算好立刻亮板！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6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5050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讀作：五千零五十 】</a:t>
            </a:r>
            <a:br/>
            <a:r>
              <a:t>位值拆解：5個千、0個百、5個十、0個一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破譯要訣：千位 5、百位 0、十位 5、個位 0，注意兩個 0 的位置。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7 題 ➔ 連續零極致挑戰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0" b="1">
                <a:solidFill>
                  <a:srgbClr val="0F172A"/>
                </a:solidFill>
                <a:latin typeface="Microsoft JhengHei"/>
              </a:defRPr>
            </a:pPr>
            <a:r>
              <a:t>「 請破譯：二千零一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破譯線索：百位和十位都是零！ ➔ 算好立刻亮板！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7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2001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讀作：二千零一 】</a:t>
            </a:r>
            <a:br/>
            <a:r>
              <a:t>位值拆解：2個千、0個百、0個十、1個一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破譯要訣：連續空位只唸一個「零」，但要補兩個 0。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8 題 ➔ 整千數破譯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0" b="1">
                <a:solidFill>
                  <a:srgbClr val="0F172A"/>
                </a:solidFill>
                <a:latin typeface="Microsoft JhengHei"/>
              </a:defRPr>
            </a:pPr>
            <a:r>
              <a:t>「 請破譯：七千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破譯線索：百、十、個位全部是零！ ➔ 算好立刻亮板！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8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7000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讀作：七千 】</a:t>
            </a:r>
            <a:br/>
            <a:r>
              <a:t>位值拆解：7個千、0個百、0個十、0個一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破譯要訣：尾數三個零，合起來就是 7000。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9 題 ➔ 十位與個位為零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0" b="1">
                <a:solidFill>
                  <a:srgbClr val="0F172A"/>
                </a:solidFill>
                <a:latin typeface="Microsoft JhengHei"/>
              </a:defRPr>
            </a:pPr>
            <a:r>
              <a:t>「 請破譯：六千六百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破譯線索：十位與個位都空著！ ➔ 算好立刻亮板！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9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6600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讀作：六千六百 】</a:t>
            </a:r>
            <a:br/>
            <a:r>
              <a:t>位值拆解：6個千、6個百、0個十、0個一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破譯要訣：「六百」後面沒有數字，十位與個位皆補 0。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10 題 ➔ 一十開頭陷阱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0" b="1">
                <a:solidFill>
                  <a:srgbClr val="0F172A"/>
                </a:solidFill>
                <a:latin typeface="Microsoft JhengHei"/>
              </a:defRPr>
            </a:pPr>
            <a:r>
              <a:t>「 請破譯：一千零一十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破譯線索：注意中間有零，十位是一十！ ➔ 算好立刻亮板！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10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1010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讀作：一千零一十 】</a:t>
            </a:r>
            <a:br/>
            <a:r>
              <a:t>位值拆解：1個千、0個百、1個十、0個一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破譯要訣：千位 1、百位 0、十位 1、個位 0。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11 題 ➔ 最大四位數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JhengHei"/>
              </a:defRPr>
            </a:pPr>
            <a:r>
              <a:t>「 請破譯：九千九百九十九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破譯線索：只差 1 就是一萬！ ➔ 算好立刻亮板！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11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9999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讀作：九千九百九十九 】</a:t>
            </a:r>
            <a:br/>
            <a:r>
              <a:t>位值拆解：9個千、9個百、9個十、9個一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破譯要訣：最大的四位數，四個位值全為 9。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12 題 ➔ 終極大魔王（五位數）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0" b="1">
                <a:solidFill>
                  <a:srgbClr val="0F172A"/>
                </a:solidFill>
                <a:latin typeface="Microsoft JhengHei"/>
              </a:defRPr>
            </a:pPr>
            <a:r>
              <a:t>「 請破譯：一萬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破譯線索：十個一千是一萬！ ➔ 算好立刻亮板！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12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10000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讀作：一萬 】</a:t>
            </a:r>
            <a:br/>
            <a:r>
              <a:t>位值拆解：1個萬、0個千、0個百、0個十、0個一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破譯要訣：五位數！1 後面總共有 4 個 0。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13 題 ➔ 概念拆解破譯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JhengHei"/>
              </a:defRPr>
            </a:pPr>
            <a:r>
              <a:t>「 請破譯：8 個千和 6 個一組成的數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破譯線索：百位和十位在哪裡？ ➔ 算好立刻亮板！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13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8006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讀作：八千零六 】</a:t>
            </a:r>
            <a:br/>
            <a:r>
              <a:t>位值拆解：8個千、0個百、0個十、6個一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破譯要訣：沒有提到的位值（百位、十位）一定要補 0！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14 題 ➔ 概念拆解破譯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JhengHei"/>
              </a:defRPr>
            </a:pPr>
            <a:r>
              <a:t>「 請破譯：4 個千、3 個百和 5 個十組成的數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破譯線索：個位在哪裡？ ➔ 算好立刻亮板！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14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4350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讀作：四千三百五十 】</a:t>
            </a:r>
            <a:br/>
            <a:r>
              <a:t>位值拆解：4個千、3個百、5個十、0個一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破譯要訣：個位沒有提到，個位要補 0。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635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🕵️‍♂️【讀寫密碼破譯員】 第 15 題 ➔ 概念拆解破譯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  <a:latin typeface="Microsoft JhengHei"/>
              </a:defRPr>
            </a:pPr>
            <a:r>
              <a:t>🎯 請在小白板寫出對應的阿拉伯數字密碼：（限時 45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286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Microsoft JhengHei"/>
              </a:defRPr>
            </a:pPr>
            <a:r>
              <a:t>「 請破譯：9 個千和 9 個十組成的數 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icrosoft JhengHei"/>
              </a:defRPr>
            </a:pPr>
            <a:r>
              <a:t>💡 破譯線索：百位和個位都空著！ ➔ 算好立刻亮板！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 w="635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Microsoft JhengHei"/>
              </a:defRPr>
            </a:pPr>
            <a:r>
              <a:t>🔓 密碼破譯成功！ 第 15 題 正確答案公布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0" b="1">
                <a:solidFill>
                  <a:srgbClr val="DC2626"/>
                </a:solidFill>
                <a:latin typeface="Arial Black"/>
              </a:defRPr>
            </a:pPr>
            <a:r>
              <a:t>9090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【 讀作：九千零九十 】</a:t>
            </a:r>
            <a:br/>
            <a:r>
              <a:t>位值拆解：9個千、0個百、9個十、0個一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⚠️ 破譯要訣：百位與個位皆補 0，讀作九千零九十。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Microsoft JhengHei"/>
              </a:defRPr>
            </a:pPr>
            <a:r>
              <a:t>🏆 恭喜全班完成【讀寫密碼破譯員】大挑戰！</a:t>
            </a:r>
          </a:p>
          <a:p>
            <a:pPr algn="ctr">
              <a:defRPr sz="2600">
                <a:solidFill>
                  <a:srgbClr val="E2E8F0"/>
                </a:solidFill>
                <a:latin typeface="Microsoft JhengHei"/>
              </a:defRPr>
            </a:pPr>
            <a:r>
              <a:t>所有 10000 以內的讀作與寫作陷阱已全部破解！</a:t>
            </a:r>
            <a:br/>
            <a:r>
              <a:t>全班都是一級特務破譯大師！👏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