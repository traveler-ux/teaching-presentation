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51C2E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微軟正黑體"/>
              </a:defRPr>
            </a:pPr>
            <a:r>
              <a:t>南一版國小國語三上 • 第一課〈你好，新朋友〉</a:t>
            </a:r>
          </a:p>
          <a:p>
            <a:pPr algn="ctr">
              <a:spcAft>
                <a:spcPts val="1600"/>
              </a:spcAft>
              <a:defRPr sz="4000" b="1">
                <a:solidFill>
                  <a:srgbClr val="FBBF24"/>
                </a:solidFill>
                <a:latin typeface="微軟正黑體"/>
              </a:defRPr>
            </a:pPr>
            <a:r>
              <a:t>🔮 生字心靈感應・魔術預言卡</a:t>
            </a:r>
          </a:p>
          <a:p>
            <a:pPr algn="ctr">
              <a:spcAft>
                <a:spcPts val="2400"/>
              </a:spcAft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在心裡默選一個生字 • 看著預言卡發送信號 • 老師瞬間看穿你的心思！</a:t>
            </a:r>
          </a:p>
          <a:p>
            <a:pPr algn="ctr">
              <a:defRPr sz="1500">
                <a:solidFill>
                  <a:srgbClr val="94A3B8"/>
                </a:solidFill>
                <a:latin typeface="微軟正黑體"/>
              </a:defRPr>
            </a:pPr>
            <a:r>
              <a:t>✨ 4張預言卡 ｜ 15個第一課重點生字 ｜ 二進位數學魔法 ｜ 大屏互動遊戲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微軟正黑體"/>
              </a:defRPr>
            </a:pPr>
            <a:r>
              <a:t>【魔術準備】全班進入心靈感應頻率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🔮 施展魔術儀式：心靈感應召喚！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51C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000" b="1">
                <a:solidFill>
                  <a:srgbClr val="38BDF8"/>
                </a:solidFill>
                <a:latin typeface="微軟正黑體"/>
              </a:defRPr>
            </a:pPr>
            <a:r>
              <a:t>1. 默想生字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  <a:latin typeface="微軟正黑體"/>
              </a:defRPr>
            </a:pPr>
            <a:r>
              <a:t>在第一課 15 個生字中</a:t>
            </a:r>
            <a:br/>
            <a:r>
              <a:t>暗暗選定 1 個生字</a:t>
            </a:r>
            <a:br/>
            <a:r>
              <a:t>千萬不要說出口！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51C2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000" b="1">
                <a:solidFill>
                  <a:srgbClr val="FBBF24"/>
                </a:solidFill>
                <a:latin typeface="微軟正黑體"/>
              </a:defRPr>
            </a:pPr>
            <a:r>
              <a:t>2. 凝視卡片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  <a:latin typeface="微軟正黑體"/>
              </a:defRPr>
            </a:pPr>
            <a:r>
              <a:t>老師依序展示 4 張預言卡</a:t>
            </a:r>
            <a:br/>
            <a:r>
              <a:t>仔細觀察每一張卡片</a:t>
            </a:r>
            <a:br/>
            <a:r>
              <a:t>尋找你的生字蹤影！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51C2E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000" b="1">
                <a:solidFill>
                  <a:srgbClr val="F43F5E"/>
                </a:solidFill>
                <a:latin typeface="微軟正黑體"/>
              </a:defRPr>
            </a:pPr>
            <a:r>
              <a:t>3. 心靈連線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  <a:latin typeface="微軟正黑體"/>
              </a:defRPr>
            </a:pPr>
            <a:r>
              <a:t>如果卡片上有你的生字</a:t>
            </a:r>
            <a:br/>
            <a:r>
              <a:t>就在心裡對老師發送信號</a:t>
            </a:r>
            <a:br/>
            <a:r>
              <a:t>或在大屏上點選鎖定！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51C2E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000" b="1">
                <a:solidFill>
                  <a:srgbClr val="34D399"/>
                </a:solidFill>
                <a:latin typeface="微軟正黑體"/>
              </a:defRPr>
            </a:pPr>
            <a:r>
              <a:t>4. 瞬間揭曉</a:t>
            </a:r>
          </a:p>
          <a:p>
            <a:pPr algn="ctr">
              <a:spcBef>
                <a:spcPts val="800"/>
              </a:spcBef>
              <a:defRPr sz="1600">
                <a:solidFill>
                  <a:srgbClr val="FFFFFF"/>
                </a:solidFill>
                <a:latin typeface="微軟正黑體"/>
              </a:defRPr>
            </a:pPr>
            <a:r>
              <a:t>老師將運用心靈感應</a:t>
            </a:r>
            <a:br/>
            <a:r>
              <a:t>在黑板與大屏上</a:t>
            </a:r>
            <a:br/>
            <a:r>
              <a:t>一秒召喚出你想的生字！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微軟正黑體"/>
              </a:defRPr>
            </a:pPr>
            <a:r>
              <a:t>【預言卡系列】請看這張卡片上有你想的生字嗎？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✨ 預言卡 A（靈能權重：1）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泥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ㄋㄧˊ  |  水部 8畫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詞：泥土、泥濘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雀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ㄑㄩㄝˋ  |  隹部 11畫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詞：麻雀、雀躍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羽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ㄩˇ  |  羽部 6畫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詞：羽毛、羽球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脆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ㄘㄨㄟˋ  |  肉部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詞：清脆、酥脆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處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ㄔㄨˋ  |  虍部 11畫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詞：到處、好處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行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ㄒㄧㄥˊ  |  行部 6畫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詞：行動、行走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男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ㄋㄢˊ  |  田部 7畫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詞：男生、男孩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38BDF8"/>
                </a:solidFill>
                <a:latin typeface="標楷體"/>
              </a:defRPr>
            </a:pPr>
            <a:r>
              <a:t>足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ㄗㄨˊ  |  足部 7畫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詞：足球、充足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微軟正黑體"/>
              </a:defRPr>
            </a:pPr>
            <a:r>
              <a:t>👉 如果你心裡的生字出現在這張【✨ 預言卡 A】，請在心裡對老師喊「有！」（權重 ＋1）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微軟正黑體"/>
              </a:defRPr>
            </a:pPr>
            <a:r>
              <a:t>【預言卡系列】請看這張卡片上有你想的生字嗎？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🌟 預言卡 B（靈能權重：2）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化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ㄏㄨㄚˋ  |  匕部 4畫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詞：變化、化身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雀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ㄑㄩㄝˋ  |  隹部 11畫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詞：麻雀、雀躍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衣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ㄧ  |  衣部 6畫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詞：衣服、毛衣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脆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ㄘㄨㄟˋ  |  肉部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詞：清脆、酥脆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旅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ㄌㄩˇ  |  方部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詞：旅行、旅客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行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ㄒㄧㄥˊ  |  行部 6畫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詞：行動、行走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朗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ㄌㄤˇ  |  月部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詞：晴朗、朗讀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BBF24"/>
                </a:solidFill>
                <a:latin typeface="標楷體"/>
              </a:defRPr>
            </a:pPr>
            <a:r>
              <a:t>足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ㄗㄨˊ  |  足部 7畫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詞：足球、充足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BBF24"/>
                </a:solidFill>
                <a:latin typeface="微軟正黑體"/>
              </a:defRPr>
            </a:pPr>
            <a:r>
              <a:t>👉 如果你心裡的生字出現在這張【🌟 預言卡 B】，請在心裡對老師喊「有！」（權重 ＋2）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微軟正黑體"/>
              </a:defRPr>
            </a:pPr>
            <a:r>
              <a:t>【預言卡系列】請看這張卡片上有你想的生字嗎？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🔮 預言卡 C（靈能權重：4）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輕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ㄑㄧㄥ  |  車部 14畫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詞：輕快、輕鬆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羽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ㄩˇ  |  羽部 6畫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詞：羽毛、羽球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衣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ㄧ  |  衣部 6畫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詞：衣服、毛衣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脆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ㄘㄨㄟˋ  |  肉部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詞：清脆、酥脆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平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ㄆㄧㄥˊ  |  干部 5畫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詞：平安、平常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男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ㄋㄢˊ  |  田部 7畫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詞：男生、男孩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朗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ㄌㄤˇ  |  月部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詞：晴朗、朗讀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F43F5E"/>
                </a:solidFill>
                <a:latin typeface="標楷體"/>
              </a:defRPr>
            </a:pPr>
            <a:r>
              <a:t>足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ㄗㄨˊ  |  足部 7畫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詞：足球、充足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solidFill>
            <a:srgbClr val="0F172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43F5E"/>
                </a:solidFill>
                <a:latin typeface="微軟正黑體"/>
              </a:defRPr>
            </a:pPr>
            <a:r>
              <a:t>👉 如果你心裡的生字出現在這張【🔮 預言卡 C】，請在心裡對老師喊「有！」（權重 ＋4）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微軟正黑體"/>
              </a:defRPr>
            </a:pPr>
            <a:r>
              <a:t>【預言卡系列】請看這張卡片上有你想的生字嗎？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💫 預言卡 D（靈能權重：8）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髮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ㄈㄚˇ  |  髟部 15畫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詞：頭髮、理髮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處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ㄔㄨˋ  |  虍部 11畫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詞：到處、好處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旅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ㄌㄩˇ  |  方部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詞：旅行、旅客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行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ㄒㄧㄥˊ  |  行部 6畫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詞：行動、行走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平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ㄆㄧㄥˊ  |  干部 5畫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詞：平安、平常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男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ㄋㄢˊ  |  田部 7畫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詞：男生、男孩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朗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ㄌㄤˇ  |  月部 10畫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詞：晴朗、朗讀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886200"/>
            <a:ext cx="2514600" cy="2148840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600" b="1">
                <a:solidFill>
                  <a:srgbClr val="C084FC"/>
                </a:solidFill>
                <a:latin typeface="標楷體"/>
              </a:defRPr>
            </a:pPr>
            <a:r>
              <a:t>足</a:t>
            </a:r>
          </a:p>
          <a:p>
            <a:pPr algn="ctr">
              <a:defRPr sz="1300">
                <a:solidFill>
                  <a:srgbClr val="FFFFFF"/>
                </a:solidFill>
                <a:latin typeface="微軟正黑體"/>
              </a:defRPr>
            </a:pPr>
            <a:r>
              <a:t>ㄗㄨˊ  |  足部 7畫</a:t>
            </a:r>
          </a:p>
          <a:p>
            <a:pPr algn="ctr">
              <a:defRPr sz="1200">
                <a:solidFill>
                  <a:srgbClr val="94A3B8"/>
                </a:solidFill>
                <a:latin typeface="微軟正黑體"/>
              </a:defRPr>
            </a:pPr>
            <a:r>
              <a:t>詞：足球、充足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solidFill>
            <a:srgbClr val="0F172A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084FC"/>
                </a:solidFill>
                <a:latin typeface="微軟正黑體"/>
              </a:defRPr>
            </a:pPr>
            <a:r>
              <a:t>👉 如果你心裡的生字出現在這張【💫 預言卡 D】，請在心裡對老師喊「有！」（權重 ＋8）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微軟正黑體"/>
              </a:defRPr>
            </a:pPr>
            <a:r>
              <a:t>【生字密碼大全】包含編號、注音、部首與對應預言卡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📚 第一課 15 個生字靈能密碼總覽（01 ~ 15）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#01  【泥】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ㄋㄧˊ • 水部8畫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詞：泥土、泥濘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463040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#02  【化】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ㄏㄨㄚˋ • 匕部4畫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詞：變化、化身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463040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#03  【雀】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ㄑㄩㄝˋ • 隹部11畫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詞：麻雀、雀躍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A,B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463040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#04  【輕】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ㄑㄧㄥ • 車部14畫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詞：輕快、輕鬆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463040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#05  【羽】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ㄩˇ • 羽部6畫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詞：羽毛、羽球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A,C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27248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#06  【衣】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ㄧ • 衣部6畫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詞：衣服、毛衣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B,C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3127248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#07  【脆】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ㄘㄨㄟˋ • 肉部10畫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詞：清脆、酥脆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A,B,C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3127248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#08  【髮】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ㄈㄚˇ • 髟部15畫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詞：頭髮、理髮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3127248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#09  【處】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ㄔㄨˋ • 虍部11畫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詞：到處、好處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A,D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3127248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#10  【旅】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ㄌㄩˇ • 方部10畫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詞：旅行、旅客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B,D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91456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#11  【行】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ㄒㄧㄥˊ • 行部6畫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詞：行動、行走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A,B,D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4791456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#12  【平】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ㄆㄧㄥˊ • 干部5畫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詞：平安、平常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C,D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4791456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#13  【男】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ㄋㄢˊ • 田部7畫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詞：男生、男孩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A,C,D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4791456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#14  【朗】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ㄌㄤˇ • 月部10畫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詞：晴朗、朗讀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B,C,D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4791456"/>
            <a:ext cx="2011680" cy="1536192"/>
          </a:xfrm>
          <a:prstGeom prst="roundRect">
            <a:avLst/>
          </a:prstGeom>
          <a:solidFill>
            <a:srgbClr val="151C2E"/>
          </a:solidFill>
          <a:ln w="19050"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BBF24"/>
                </a:solidFill>
                <a:latin typeface="標楷體"/>
              </a:defRPr>
            </a:pPr>
            <a:r>
              <a:t>#15  【足】</a:t>
            </a:r>
          </a:p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ㄗㄨˊ • 足部7畫</a:t>
            </a:r>
          </a:p>
          <a:p>
            <a:pPr algn="ctr">
              <a:defRPr sz="1050">
                <a:solidFill>
                  <a:srgbClr val="38BDF8"/>
                </a:solidFill>
                <a:latin typeface="微軟正黑體"/>
              </a:defRPr>
            </a:pPr>
            <a:r>
              <a:t>詞：足球、充足</a:t>
            </a:r>
          </a:p>
          <a:p>
            <a:pPr algn="ctr">
              <a:defRPr sz="1000" b="1">
                <a:solidFill>
                  <a:srgbClr val="34D399"/>
                </a:solidFill>
                <a:latin typeface="微軟正黑體"/>
              </a:defRPr>
            </a:pPr>
            <a:r>
              <a:t>➔ 卡片 A,B,C,D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solidFill>
              <a:srgbClr val="09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微軟正黑體"/>
              </a:defRPr>
            </a:pPr>
            <a:r>
              <a:t>【魔術背後的科學】為什麼老師能 100% 算中？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軟正黑體"/>
              </a:defRPr>
            </a:pPr>
            <a:r>
              <a:t>💡 心靈感應大解密：二進位魔法定理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62895" cy="4754880"/>
          </a:xfrm>
          <a:prstGeom prst="roundRect">
            <a:avLst/>
          </a:prstGeom>
          <a:solidFill>
            <a:srgbClr val="151C2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FBBF24"/>
                </a:solidFill>
                <a:latin typeface="微軟正黑體"/>
              </a:defRPr>
            </a:pPr>
            <a:r>
              <a:t>🧮 二進位整數唯一分解原理（Binary Decomposition）：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8BDF8"/>
                </a:solidFill>
              </a:rPr>
              <a:t>• 4 張卡片的權重： </a:t>
            </a:r>
            <a:r>
              <a:rPr sz="1600">
                <a:solidFill>
                  <a:srgbClr val="FFFFFF"/>
                </a:solidFill>
              </a:rPr>
              <a:t>卡片 A = 1（2⁰）、卡片 B = 2（2¹）、卡片 C = 4（2²）、卡片 D = 8（2³）。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8BDF8"/>
                </a:solidFill>
              </a:rPr>
              <a:t>• 唯一分解定理： </a:t>
            </a:r>
            <a:r>
              <a:rPr sz="1600">
                <a:solidFill>
                  <a:srgbClr val="FFFFFF"/>
                </a:solidFill>
              </a:rPr>
              <a:t>任何 1～15 的正整數，都能被【唯一分解】為 1, 2, 4, 8 的加總組合！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8BDF8"/>
                </a:solidFill>
              </a:rPr>
              <a:t>• 舉例 1（生字：羽）： </a:t>
            </a:r>
            <a:r>
              <a:rPr sz="1600">
                <a:solidFill>
                  <a:srgbClr val="FFFFFF"/>
                </a:solidFill>
              </a:rPr>
              <a:t>羽 是 05 號生字 ➔ 5 = 1 + 4 ➔ 所以只會出現在【卡片 A】與【卡片 C】！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8BDF8"/>
                </a:solidFill>
              </a:rPr>
              <a:t>• 舉例 2（生字：行）： </a:t>
            </a:r>
            <a:r>
              <a:rPr sz="1600">
                <a:solidFill>
                  <a:srgbClr val="FFFFFF"/>
                </a:solidFill>
              </a:rPr>
              <a:t>行 是 11 號生字 ➔ 11 = 1 + 2 + 8 ➔ 所以會出現在【卡片 A, B, D】！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38BDF8"/>
                </a:solidFill>
              </a:rPr>
              <a:t>• 老師的心算密技： </a:t>
            </a:r>
            <a:r>
              <a:rPr sz="1600">
                <a:solidFill>
                  <a:srgbClr val="FFFFFF"/>
                </a:solidFill>
              </a:rPr>
              <a:t>只要學生說出哪幾張卡片有字，把卡片權重加起來，就能瞬間召喚出對應生字！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